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307" r:id="rId3"/>
    <p:sldId id="257" r:id="rId5"/>
    <p:sldId id="308" r:id="rId6"/>
    <p:sldId id="284" r:id="rId7"/>
    <p:sldId id="309" r:id="rId8"/>
    <p:sldId id="288" r:id="rId9"/>
    <p:sldId id="289" r:id="rId10"/>
    <p:sldId id="351" r:id="rId11"/>
    <p:sldId id="263" r:id="rId12"/>
    <p:sldId id="333" r:id="rId13"/>
    <p:sldId id="310" r:id="rId14"/>
    <p:sldId id="285" r:id="rId15"/>
    <p:sldId id="370" r:id="rId16"/>
    <p:sldId id="312"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7A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9" autoAdjust="0"/>
    <p:restoredTop sz="94660"/>
  </p:normalViewPr>
  <p:slideViewPr>
    <p:cSldViewPr snapToGrid="0" showGuides="1">
      <p:cViewPr varScale="1">
        <p:scale>
          <a:sx n="66" d="100"/>
          <a:sy n="66" d="100"/>
        </p:scale>
        <p:origin x="-126" y="-474"/>
      </p:cViewPr>
      <p:guideLst>
        <p:guide orient="horz" pos="2278"/>
        <p:guide pos="3840"/>
      </p:guideLst>
    </p:cSldViewPr>
  </p:slideViewPr>
  <p:notesTextViewPr>
    <p:cViewPr>
      <p:scale>
        <a:sx n="1" d="1"/>
        <a:sy n="1" d="1"/>
      </p:scale>
      <p:origin x="0" y="0"/>
    </p:cViewPr>
  </p:notesTextViewPr>
  <p:notesViewPr>
    <p:cSldViewPr snapToGrid="0">
      <p:cViewPr varScale="1">
        <p:scale>
          <a:sx n="54" d="100"/>
          <a:sy n="54" d="100"/>
        </p:scale>
        <p:origin x="1956"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49.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8F3E3C-FBCD-46C1-BA32-1D7590B6F119}"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4E4A17-252F-4AA7-BDE4-ECC957CC3CE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900691-BC26-4A87-A8FA-24BEF44534A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384D0-E8C0-4FB2-93D8-B1A58490B2C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F7384D0-E8C0-4FB2-93D8-B1A58490B2C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7" name="直接连接符 6"/>
          <p:cNvCxnSpPr/>
          <p:nvPr userDrawn="1"/>
        </p:nvCxnSpPr>
        <p:spPr>
          <a:xfrm>
            <a:off x="3319481" y="939947"/>
            <a:ext cx="55530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1" Type="http://schemas.openxmlformats.org/officeDocument/2006/relationships/notesSlide" Target="../notesSlides/notesSlide4.xml"/><Relationship Id="rId10" Type="http://schemas.openxmlformats.org/officeDocument/2006/relationships/slideLayout" Target="../slideLayouts/slideLayout4.xml"/><Relationship Id="rId1" Type="http://schemas.openxmlformats.org/officeDocument/2006/relationships/tags" Target="../tags/tag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tags" Target="../tags/tag24.xml"/><Relationship Id="rId2" Type="http://schemas.openxmlformats.org/officeDocument/2006/relationships/tags" Target="../tags/tag23.xml"/><Relationship Id="rId15" Type="http://schemas.openxmlformats.org/officeDocument/2006/relationships/notesSlide" Target="../notesSlides/notesSlide6.xml"/><Relationship Id="rId14" Type="http://schemas.openxmlformats.org/officeDocument/2006/relationships/slideLayout" Target="../slideLayouts/slideLayout4.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2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tags" Target="../tags/tag35.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4.xml"/><Relationship Id="rId3"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image" Target="../media/image12.png"/><Relationship Id="rId11" Type="http://schemas.openxmlformats.org/officeDocument/2006/relationships/notesSlide" Target="../notesSlides/notesSlide12.xml"/><Relationship Id="rId10" Type="http://schemas.openxmlformats.org/officeDocument/2006/relationships/slideLayout" Target="../slideLayouts/slideLayout4.xml"/><Relationship Id="rId1" Type="http://schemas.openxmlformats.org/officeDocument/2006/relationships/tags" Target="../tags/tag4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7639" y="-176981"/>
            <a:ext cx="5368413" cy="5943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1" name="矩形 10"/>
          <p:cNvSpPr/>
          <p:nvPr/>
        </p:nvSpPr>
        <p:spPr>
          <a:xfrm>
            <a:off x="1961535" y="1037302"/>
            <a:ext cx="11194026" cy="5943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 name="矩形 4"/>
          <p:cNvSpPr/>
          <p:nvPr/>
        </p:nvSpPr>
        <p:spPr>
          <a:xfrm>
            <a:off x="4826000" y="1363980"/>
            <a:ext cx="7069455" cy="34143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9" name="文本框 18"/>
          <p:cNvSpPr txBox="1"/>
          <p:nvPr/>
        </p:nvSpPr>
        <p:spPr>
          <a:xfrm>
            <a:off x="5434965" y="1669415"/>
            <a:ext cx="5795010" cy="2122805"/>
          </a:xfrm>
          <a:prstGeom prst="rect">
            <a:avLst/>
          </a:prstGeom>
          <a:noFill/>
        </p:spPr>
        <p:txBody>
          <a:bodyPr wrap="square" rtlCol="0">
            <a:spAutoFit/>
          </a:bodyPr>
          <a:lstStyle/>
          <a:p>
            <a:pPr algn="ctr"/>
            <a:r>
              <a:rPr lang="zh-CN" altLang="en-US" sz="4400" dirty="0">
                <a:latin typeface="Century Gothic" panose="020B0502020202020204" pitchFamily="34" charset="0"/>
                <a:ea typeface="思源黑体 CN Normal" panose="020B0400000000000000" pitchFamily="34" charset="-122"/>
                <a:sym typeface="Century Gothic" panose="020B0502020202020204" pitchFamily="34" charset="0"/>
              </a:rPr>
              <a:t>基于知识图谱的离散数学</a:t>
            </a:r>
            <a:r>
              <a:rPr lang="en-US" altLang="zh-CN" sz="4400" dirty="0">
                <a:latin typeface="Century Gothic" panose="020B0502020202020204" pitchFamily="34" charset="0"/>
                <a:ea typeface="思源黑体 CN Normal" panose="020B0400000000000000" pitchFamily="34" charset="-122"/>
                <a:sym typeface="Century Gothic" panose="020B0502020202020204" pitchFamily="34" charset="0"/>
              </a:rPr>
              <a:t>AI</a:t>
            </a:r>
            <a:r>
              <a:rPr lang="zh-CN" altLang="en-US" sz="4400" dirty="0">
                <a:latin typeface="Century Gothic" panose="020B0502020202020204" pitchFamily="34" charset="0"/>
                <a:ea typeface="思源黑体 CN Normal" panose="020B0400000000000000" pitchFamily="34" charset="-122"/>
                <a:sym typeface="Century Gothic" panose="020B0502020202020204" pitchFamily="34" charset="0"/>
              </a:rPr>
              <a:t>助教问答库建设及数据分析</a:t>
            </a:r>
            <a:r>
              <a:rPr lang="zh-CN" altLang="en-US" sz="4400" dirty="0">
                <a:latin typeface="Century Gothic" panose="020B0502020202020204" pitchFamily="34" charset="0"/>
                <a:ea typeface="思源黑体 CN Normal" panose="020B0400000000000000" pitchFamily="34" charset="-122"/>
                <a:sym typeface="Century Gothic" panose="020B0502020202020204" pitchFamily="34" charset="0"/>
              </a:rPr>
              <a:t>反馈</a:t>
            </a:r>
            <a:endParaRPr lang="zh-CN" altLang="en-US" sz="4400"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0" name="矩形 19"/>
          <p:cNvSpPr/>
          <p:nvPr/>
        </p:nvSpPr>
        <p:spPr>
          <a:xfrm>
            <a:off x="6549758" y="3928402"/>
            <a:ext cx="3567430" cy="583565"/>
          </a:xfrm>
          <a:prstGeom prst="rect">
            <a:avLst/>
          </a:prstGeom>
        </p:spPr>
        <p:txBody>
          <a:bodyPr wrap="none">
            <a:spAutoFit/>
          </a:bodyPr>
          <a:lstStyle/>
          <a:p>
            <a:pPr algn="ctr"/>
            <a:r>
              <a:rPr lang="en-US" altLang="zh-CN" sz="3200" i="1" dirty="0">
                <a:solidFill>
                  <a:schemeClr val="tx2"/>
                </a:solidFill>
              </a:rPr>
              <a:t>2025</a:t>
            </a:r>
            <a:r>
              <a:rPr lang="zh-CN" altLang="en-US" sz="3200" i="1" dirty="0">
                <a:solidFill>
                  <a:schemeClr val="tx2"/>
                </a:solidFill>
              </a:rPr>
              <a:t>年</a:t>
            </a:r>
            <a:r>
              <a:rPr lang="en-US" altLang="zh-CN" sz="3200" i="1" dirty="0">
                <a:solidFill>
                  <a:schemeClr val="tx2"/>
                </a:solidFill>
              </a:rPr>
              <a:t>OUC-SRDP</a:t>
            </a:r>
            <a:endParaRPr lang="en-US" altLang="zh-CN" sz="3200" i="1" dirty="0">
              <a:solidFill>
                <a:schemeClr val="tx2"/>
              </a:solidFill>
            </a:endParaRPr>
          </a:p>
        </p:txBody>
      </p:sp>
      <p:sp>
        <p:nvSpPr>
          <p:cNvPr id="24" name="文本框 23"/>
          <p:cNvSpPr txBox="1"/>
          <p:nvPr/>
        </p:nvSpPr>
        <p:spPr>
          <a:xfrm>
            <a:off x="5928909" y="5220617"/>
            <a:ext cx="4807858" cy="368300"/>
          </a:xfrm>
          <a:prstGeom prst="rect">
            <a:avLst/>
          </a:prstGeom>
          <a:noFill/>
        </p:spPr>
        <p:txBody>
          <a:bodyPr wrap="square" rtlCol="0">
            <a:spAutoFit/>
          </a:bodyPr>
          <a:lstStyle/>
          <a:p>
            <a:pPr algn="ct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汇报人：高笑颜</a:t>
            </a: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    </a:t>
            </a: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时间：</a:t>
            </a:r>
            <a:r>
              <a:rPr lang="en-US" altLang="zh-CN"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2024.12.9</a:t>
            </a:r>
            <a:endPar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 name="矩形 2"/>
          <p:cNvSpPr/>
          <p:nvPr/>
        </p:nvSpPr>
        <p:spPr>
          <a:xfrm>
            <a:off x="2244725" y="1732280"/>
            <a:ext cx="1606550" cy="1198880"/>
          </a:xfrm>
          <a:prstGeom prst="rect">
            <a:avLst/>
          </a:prstGeom>
        </p:spPr>
        <p:txBody>
          <a:bodyPr wrap="square">
            <a:spAutoFit/>
          </a:bodyPr>
          <a:p>
            <a:pPr algn="ctr"/>
            <a:r>
              <a:rPr lang="zh-CN" altLang="en-US" sz="3600" i="1" dirty="0">
                <a:solidFill>
                  <a:schemeClr val="tx2"/>
                </a:solidFill>
              </a:rPr>
              <a:t>第</a:t>
            </a:r>
            <a:r>
              <a:rPr lang="zh-CN" altLang="en-US" sz="3600" i="1" dirty="0">
                <a:solidFill>
                  <a:schemeClr val="tx2"/>
                </a:solidFill>
              </a:rPr>
              <a:t>三周汇报</a:t>
            </a:r>
            <a:endParaRPr lang="zh-CN" altLang="en-US" sz="3600" i="1" dirty="0">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heel(1)">
                                      <p:cBhvr>
                                        <p:cTn id="10" dur="1000"/>
                                        <p:tgtEl>
                                          <p:spTgt spid="11"/>
                                        </p:tgtEl>
                                      </p:cBhvr>
                                    </p:animEffect>
                                  </p:childTnLst>
                                </p:cTn>
                              </p:par>
                            </p:childTnLst>
                          </p:cTn>
                        </p:par>
                        <p:par>
                          <p:cTn id="11" fill="hold">
                            <p:stCondLst>
                              <p:cond delay="1000"/>
                            </p:stCondLst>
                            <p:childTnLst>
                              <p:par>
                                <p:cTn id="12" presetID="6" presetClass="entr" presetSubtype="16"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1000"/>
                                        <p:tgtEl>
                                          <p:spTgt spid="5"/>
                                        </p:tgtEl>
                                      </p:cBhvr>
                                    </p:animEffect>
                                  </p:childTnLst>
                                </p:cTn>
                              </p:par>
                              <p:par>
                                <p:cTn id="15" presetID="2" presetClass="entr" presetSubtype="2" fill="hold" grpId="0" nodeType="withEffect">
                                  <p:stCondLst>
                                    <p:cond delay="25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1+#ppt_w/2"/>
                                          </p:val>
                                        </p:tav>
                                        <p:tav tm="100000">
                                          <p:val>
                                            <p:strVal val="#ppt_x"/>
                                          </p:val>
                                        </p:tav>
                                      </p:tavLst>
                                    </p:anim>
                                    <p:anim calcmode="lin" valueType="num">
                                      <p:cBhvr additive="base">
                                        <p:cTn id="18" dur="500" fill="hold"/>
                                        <p:tgtEl>
                                          <p:spTgt spid="19"/>
                                        </p:tgtEl>
                                        <p:attrNameLst>
                                          <p:attrName>ppt_y</p:attrName>
                                        </p:attrNameLst>
                                      </p:cBhvr>
                                      <p:tavLst>
                                        <p:tav tm="0">
                                          <p:val>
                                            <p:strVal val="#ppt_y"/>
                                          </p:val>
                                        </p:tav>
                                        <p:tav tm="100000">
                                          <p:val>
                                            <p:strVal val="#ppt_y"/>
                                          </p:val>
                                        </p:tav>
                                      </p:tavLst>
                                    </p:anim>
                                  </p:childTnLst>
                                </p:cTn>
                              </p:par>
                            </p:childTnLst>
                          </p:cTn>
                        </p:par>
                        <p:par>
                          <p:cTn id="19" fill="hold">
                            <p:stCondLst>
                              <p:cond delay="2000"/>
                            </p:stCondLst>
                            <p:childTnLst>
                              <p:par>
                                <p:cTn id="20" presetID="22" presetClass="entr" presetSubtype="8"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par>
                          <p:cTn id="23" fill="hold">
                            <p:stCondLst>
                              <p:cond delay="2500"/>
                            </p:stCondLst>
                            <p:childTnLst>
                              <p:par>
                                <p:cTn id="24" presetID="2" presetClass="entr" presetSubtype="4"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fill="hold"/>
                                        <p:tgtEl>
                                          <p:spTgt spid="24"/>
                                        </p:tgtEl>
                                        <p:attrNameLst>
                                          <p:attrName>ppt_x</p:attrName>
                                        </p:attrNameLst>
                                      </p:cBhvr>
                                      <p:tavLst>
                                        <p:tav tm="0">
                                          <p:val>
                                            <p:strVal val="#ppt_x"/>
                                          </p:val>
                                        </p:tav>
                                        <p:tav tm="100000">
                                          <p:val>
                                            <p:strVal val="#ppt_x"/>
                                          </p:val>
                                        </p:tav>
                                      </p:tavLst>
                                    </p:anim>
                                    <p:anim calcmode="lin" valueType="num">
                                      <p:cBhvr additive="base">
                                        <p:cTn id="27" dur="500" fill="hold"/>
                                        <p:tgtEl>
                                          <p:spTgt spid="24"/>
                                        </p:tgtEl>
                                        <p:attrNameLst>
                                          <p:attrName>ppt_y</p:attrName>
                                        </p:attrNameLst>
                                      </p:cBhvr>
                                      <p:tavLst>
                                        <p:tav tm="0">
                                          <p:val>
                                            <p:strVal val="1+#ppt_h/2"/>
                                          </p:val>
                                        </p:tav>
                                        <p:tav tm="100000">
                                          <p:val>
                                            <p:strVal val="#ppt_y"/>
                                          </p:val>
                                        </p:tav>
                                      </p:tavLst>
                                    </p:anim>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5" grpId="0" bldLvl="0" animBg="1"/>
      <p:bldP spid="19" grpId="0"/>
      <p:bldP spid="20" grpId="0"/>
      <p:bldP spid="24"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961535" y="1207008"/>
            <a:ext cx="11194026" cy="66709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 name="矩形 1"/>
          <p:cNvSpPr/>
          <p:nvPr/>
        </p:nvSpPr>
        <p:spPr>
          <a:xfrm>
            <a:off x="6940062" y="-1500554"/>
            <a:ext cx="9542584" cy="48064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5603631" y="2126774"/>
            <a:ext cx="1329552" cy="707886"/>
          </a:xfrm>
          <a:prstGeom prst="rect">
            <a:avLst/>
          </a:prstGeom>
          <a:noFill/>
        </p:spPr>
        <p:txBody>
          <a:bodyPr wrap="square" rtlCol="0">
            <a:spAutoFit/>
          </a:bodyPr>
          <a:lstStyle/>
          <a:p>
            <a:pPr algn="r"/>
            <a:r>
              <a:rPr lang="zh-CN" altLang="en-US" sz="40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目录</a:t>
            </a:r>
            <a:endParaRPr lang="zh-CN" altLang="en-US" sz="40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1" name="文本框 50"/>
          <p:cNvSpPr txBox="1"/>
          <p:nvPr/>
        </p:nvSpPr>
        <p:spPr>
          <a:xfrm>
            <a:off x="6980070" y="2834660"/>
            <a:ext cx="2786743" cy="461665"/>
          </a:xfrm>
          <a:prstGeom prst="rect">
            <a:avLst/>
          </a:prstGeom>
          <a:noFill/>
        </p:spPr>
        <p:txBody>
          <a:bodyPr wrap="square" rtlCol="0">
            <a:spAutoFit/>
          </a:bodyPr>
          <a:lstStyle/>
          <a:p>
            <a:r>
              <a:rPr lang="en-US" altLang="zh-CN" sz="24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CONTENTS</a:t>
            </a:r>
            <a:endParaRPr lang="zh-CN" altLang="en-US" sz="2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2" name="文本框 51"/>
          <p:cNvSpPr txBox="1"/>
          <p:nvPr>
            <p:custDataLst>
              <p:tags r:id="rId1"/>
            </p:custDataLst>
          </p:nvPr>
        </p:nvSpPr>
        <p:spPr>
          <a:xfrm>
            <a:off x="2714546" y="4780161"/>
            <a:ext cx="1698171" cy="460375"/>
          </a:xfrm>
          <a:prstGeom prst="rect">
            <a:avLst/>
          </a:prstGeom>
          <a:noFill/>
        </p:spPr>
        <p:txBody>
          <a:bodyPr wrap="square" rtlCol="0">
            <a:spAutoFit/>
          </a:bodyPr>
          <a:lstStyle/>
          <a:p>
            <a:r>
              <a:rPr lang="zh-CN" altLang="en-US" sz="24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研究概述</a:t>
            </a:r>
            <a:endParaRPr lang="zh-CN" altLang="en-US" sz="24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3" name="文本框 52"/>
          <p:cNvSpPr txBox="1"/>
          <p:nvPr>
            <p:custDataLst>
              <p:tags r:id="rId2"/>
            </p:custDataLst>
          </p:nvPr>
        </p:nvSpPr>
        <p:spPr>
          <a:xfrm>
            <a:off x="4507060" y="4780161"/>
            <a:ext cx="1698171" cy="460375"/>
          </a:xfrm>
          <a:prstGeom prst="rect">
            <a:avLst/>
          </a:prstGeom>
          <a:noFill/>
        </p:spPr>
        <p:txBody>
          <a:bodyPr wrap="square" rtlCol="0">
            <a:spAutoFit/>
          </a:bodyPr>
          <a:lstStyle/>
          <a:p>
            <a:r>
              <a:rPr lang="zh-CN" altLang="en-US" sz="24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本周</a:t>
            </a:r>
            <a:r>
              <a:rPr lang="zh-CN" altLang="en-US" sz="24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工作</a:t>
            </a:r>
            <a:endParaRPr lang="zh-CN" altLang="en-US" sz="24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5" name="文本框 54"/>
          <p:cNvSpPr txBox="1"/>
          <p:nvPr>
            <p:custDataLst>
              <p:tags r:id="rId3"/>
            </p:custDataLst>
          </p:nvPr>
        </p:nvSpPr>
        <p:spPr>
          <a:xfrm>
            <a:off x="8092088" y="4780161"/>
            <a:ext cx="1698171" cy="461665"/>
          </a:xfrm>
          <a:prstGeom prst="rect">
            <a:avLst/>
          </a:prstGeom>
          <a:noFill/>
        </p:spPr>
        <p:txBody>
          <a:bodyPr wrap="square" rtlCol="0">
            <a:spAutoFit/>
          </a:bodyPr>
          <a:lstStyle/>
          <a:p>
            <a:r>
              <a:rPr lang="zh-CN" altLang="en-US" sz="24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问题总结</a:t>
            </a:r>
            <a:endParaRPr lang="zh-CN" altLang="en-US" sz="24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6" name="文本框 55"/>
          <p:cNvSpPr txBox="1"/>
          <p:nvPr>
            <p:custDataLst>
              <p:tags r:id="rId4"/>
            </p:custDataLst>
          </p:nvPr>
        </p:nvSpPr>
        <p:spPr>
          <a:xfrm>
            <a:off x="9884602" y="4780161"/>
            <a:ext cx="1698171" cy="461665"/>
          </a:xfrm>
          <a:prstGeom prst="rect">
            <a:avLst/>
          </a:prstGeom>
          <a:noFill/>
        </p:spPr>
        <p:txBody>
          <a:bodyPr wrap="square" rtlCol="0">
            <a:spAutoFit/>
          </a:bodyPr>
          <a:lstStyle/>
          <a:p>
            <a:r>
              <a:rPr lang="zh-CN" altLang="en-US" sz="24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工作计划</a:t>
            </a:r>
            <a:endParaRPr lang="zh-CN" altLang="en-US" sz="24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7" name="文本框 56"/>
          <p:cNvSpPr txBox="1"/>
          <p:nvPr>
            <p:custDataLst>
              <p:tags r:id="rId5"/>
            </p:custDataLst>
          </p:nvPr>
        </p:nvSpPr>
        <p:spPr>
          <a:xfrm>
            <a:off x="2714546" y="5241826"/>
            <a:ext cx="1698171" cy="307777"/>
          </a:xfrm>
          <a:prstGeom prst="rect">
            <a:avLst/>
          </a:prstGeom>
          <a:noFill/>
        </p:spPr>
        <p:txBody>
          <a:bodyPr wrap="square" rtlCol="0">
            <a:spAutoFit/>
          </a:bodyPr>
          <a:lstStyle/>
          <a:p>
            <a:r>
              <a:rPr lang="en-US" altLang="zh-CN" sz="1400" i="1"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Introduction</a:t>
            </a:r>
            <a:endParaRPr lang="zh-CN" altLang="en-US" sz="1400" i="1"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8" name="文本框 57"/>
          <p:cNvSpPr txBox="1"/>
          <p:nvPr>
            <p:custDataLst>
              <p:tags r:id="rId6"/>
            </p:custDataLst>
          </p:nvPr>
        </p:nvSpPr>
        <p:spPr>
          <a:xfrm>
            <a:off x="4507060" y="5241826"/>
            <a:ext cx="1698171" cy="307777"/>
          </a:xfrm>
          <a:prstGeom prst="rect">
            <a:avLst/>
          </a:prstGeom>
          <a:noFill/>
        </p:spPr>
        <p:txBody>
          <a:bodyPr wrap="square" rtlCol="0">
            <a:spAutoFit/>
          </a:bodyPr>
          <a:lstStyle/>
          <a:p>
            <a:r>
              <a:rPr lang="en-US" altLang="zh-CN" sz="1400" i="1"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Achievement</a:t>
            </a:r>
            <a:endParaRPr lang="zh-CN" altLang="en-US" sz="1400" i="1"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0" name="文本框 59"/>
          <p:cNvSpPr txBox="1"/>
          <p:nvPr>
            <p:custDataLst>
              <p:tags r:id="rId7"/>
            </p:custDataLst>
          </p:nvPr>
        </p:nvSpPr>
        <p:spPr>
          <a:xfrm>
            <a:off x="8092088" y="5241826"/>
            <a:ext cx="1698171" cy="307777"/>
          </a:xfrm>
          <a:prstGeom prst="rect">
            <a:avLst/>
          </a:prstGeom>
          <a:noFill/>
        </p:spPr>
        <p:txBody>
          <a:bodyPr wrap="square" rtlCol="0">
            <a:spAutoFit/>
          </a:bodyPr>
          <a:lstStyle/>
          <a:p>
            <a:r>
              <a:rPr lang="en-US" altLang="zh-CN" sz="1400" i="1"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Weakness</a:t>
            </a:r>
            <a:endParaRPr lang="zh-CN" altLang="en-US" sz="1400" i="1"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1" name="文本框 60"/>
          <p:cNvSpPr txBox="1"/>
          <p:nvPr>
            <p:custDataLst>
              <p:tags r:id="rId8"/>
            </p:custDataLst>
          </p:nvPr>
        </p:nvSpPr>
        <p:spPr>
          <a:xfrm>
            <a:off x="9884602" y="5241826"/>
            <a:ext cx="1698171" cy="307777"/>
          </a:xfrm>
          <a:prstGeom prst="rect">
            <a:avLst/>
          </a:prstGeom>
          <a:noFill/>
        </p:spPr>
        <p:txBody>
          <a:bodyPr wrap="square" rtlCol="0">
            <a:spAutoFit/>
          </a:bodyPr>
          <a:lstStyle/>
          <a:p>
            <a:r>
              <a:rPr lang="en-US" altLang="zh-CN" sz="1400" i="1"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Planning</a:t>
            </a:r>
            <a:endParaRPr lang="zh-CN" altLang="en-US" sz="1400" i="1"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2" name="任意多边形 61"/>
          <p:cNvSpPr>
            <a:spLocks noChangeAspect="1"/>
          </p:cNvSpPr>
          <p:nvPr>
            <p:custDataLst>
              <p:tags r:id="rId9"/>
            </p:custDataLst>
          </p:nvPr>
        </p:nvSpPr>
        <p:spPr>
          <a:xfrm>
            <a:off x="2903888" y="4322094"/>
            <a:ext cx="369277" cy="360000"/>
          </a:xfrm>
          <a:custGeom>
            <a:avLst/>
            <a:gdLst>
              <a:gd name="connsiteX0" fmla="*/ 371036 w 3082990"/>
              <a:gd name="connsiteY0" fmla="*/ 371036 h 3005540"/>
              <a:gd name="connsiteX1" fmla="*/ 371036 w 3082990"/>
              <a:gd name="connsiteY1" fmla="*/ 1921998 h 3005540"/>
              <a:gd name="connsiteX2" fmla="*/ 2711954 w 3082990"/>
              <a:gd name="connsiteY2" fmla="*/ 1921998 h 3005540"/>
              <a:gd name="connsiteX3" fmla="*/ 2711954 w 3082990"/>
              <a:gd name="connsiteY3" fmla="*/ 371036 h 3005540"/>
              <a:gd name="connsiteX4" fmla="*/ 0 w 3082990"/>
              <a:gd name="connsiteY4" fmla="*/ 0 h 3005540"/>
              <a:gd name="connsiteX5" fmla="*/ 3082990 w 3082990"/>
              <a:gd name="connsiteY5" fmla="*/ 0 h 3005540"/>
              <a:gd name="connsiteX6" fmla="*/ 3082990 w 3082990"/>
              <a:gd name="connsiteY6" fmla="*/ 2293034 h 3005540"/>
              <a:gd name="connsiteX7" fmla="*/ 1825302 w 3082990"/>
              <a:gd name="connsiteY7" fmla="*/ 2293034 h 3005540"/>
              <a:gd name="connsiteX8" fmla="*/ 1825302 w 3082990"/>
              <a:gd name="connsiteY8" fmla="*/ 2639780 h 3005540"/>
              <a:gd name="connsiteX9" fmla="*/ 2423592 w 3082990"/>
              <a:gd name="connsiteY9" fmla="*/ 2639780 h 3005540"/>
              <a:gd name="connsiteX10" fmla="*/ 2423592 w 3082990"/>
              <a:gd name="connsiteY10" fmla="*/ 3005540 h 3005540"/>
              <a:gd name="connsiteX11" fmla="*/ 659398 w 3082990"/>
              <a:gd name="connsiteY11" fmla="*/ 3005540 h 3005540"/>
              <a:gd name="connsiteX12" fmla="*/ 659398 w 3082990"/>
              <a:gd name="connsiteY12" fmla="*/ 2639780 h 3005540"/>
              <a:gd name="connsiteX13" fmla="*/ 1257688 w 3082990"/>
              <a:gd name="connsiteY13" fmla="*/ 2639780 h 3005540"/>
              <a:gd name="connsiteX14" fmla="*/ 1257688 w 3082990"/>
              <a:gd name="connsiteY14" fmla="*/ 2293034 h 3005540"/>
              <a:gd name="connsiteX15" fmla="*/ 0 w 3082990"/>
              <a:gd name="connsiteY15" fmla="*/ 2293034 h 300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82990" h="3005540">
                <a:moveTo>
                  <a:pt x="371036" y="371036"/>
                </a:moveTo>
                <a:lnTo>
                  <a:pt x="371036" y="1921998"/>
                </a:lnTo>
                <a:lnTo>
                  <a:pt x="2711954" y="1921998"/>
                </a:lnTo>
                <a:lnTo>
                  <a:pt x="2711954" y="371036"/>
                </a:lnTo>
                <a:close/>
                <a:moveTo>
                  <a:pt x="0" y="0"/>
                </a:moveTo>
                <a:lnTo>
                  <a:pt x="3082990" y="0"/>
                </a:lnTo>
                <a:lnTo>
                  <a:pt x="3082990" y="2293034"/>
                </a:lnTo>
                <a:lnTo>
                  <a:pt x="1825302" y="2293034"/>
                </a:lnTo>
                <a:lnTo>
                  <a:pt x="1825302" y="2639780"/>
                </a:lnTo>
                <a:lnTo>
                  <a:pt x="2423592" y="2639780"/>
                </a:lnTo>
                <a:lnTo>
                  <a:pt x="2423592" y="3005540"/>
                </a:lnTo>
                <a:lnTo>
                  <a:pt x="659398" y="3005540"/>
                </a:lnTo>
                <a:lnTo>
                  <a:pt x="659398" y="2639780"/>
                </a:lnTo>
                <a:lnTo>
                  <a:pt x="1257688" y="2639780"/>
                </a:lnTo>
                <a:lnTo>
                  <a:pt x="1257688" y="2293034"/>
                </a:lnTo>
                <a:lnTo>
                  <a:pt x="0" y="2293034"/>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chemeClr val="tx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3" name="任意多边形 62"/>
          <p:cNvSpPr>
            <a:spLocks noChangeAspect="1"/>
          </p:cNvSpPr>
          <p:nvPr>
            <p:custDataLst>
              <p:tags r:id="rId10"/>
            </p:custDataLst>
          </p:nvPr>
        </p:nvSpPr>
        <p:spPr>
          <a:xfrm>
            <a:off x="4701041" y="4322094"/>
            <a:ext cx="360000" cy="360000"/>
          </a:xfrm>
          <a:custGeom>
            <a:avLst/>
            <a:gdLst>
              <a:gd name="connsiteX0" fmla="*/ 3009329 w 4544704"/>
              <a:gd name="connsiteY0" fmla="*/ 2055014 h 4544704"/>
              <a:gd name="connsiteX1" fmla="*/ 3391467 w 4544704"/>
              <a:gd name="connsiteY1" fmla="*/ 2055014 h 4544704"/>
              <a:gd name="connsiteX2" fmla="*/ 3391467 w 4544704"/>
              <a:gd name="connsiteY2" fmla="*/ 3528972 h 4544704"/>
              <a:gd name="connsiteX3" fmla="*/ 3009329 w 4544704"/>
              <a:gd name="connsiteY3" fmla="*/ 3528972 h 4544704"/>
              <a:gd name="connsiteX4" fmla="*/ 1132765 w 4544704"/>
              <a:gd name="connsiteY4" fmla="*/ 1495456 h 4544704"/>
              <a:gd name="connsiteX5" fmla="*/ 1514903 w 4544704"/>
              <a:gd name="connsiteY5" fmla="*/ 1495456 h 4544704"/>
              <a:gd name="connsiteX6" fmla="*/ 1514903 w 4544704"/>
              <a:gd name="connsiteY6" fmla="*/ 3528972 h 4544704"/>
              <a:gd name="connsiteX7" fmla="*/ 1132765 w 4544704"/>
              <a:gd name="connsiteY7" fmla="*/ 3528972 h 4544704"/>
              <a:gd name="connsiteX8" fmla="*/ 2081283 w 4544704"/>
              <a:gd name="connsiteY8" fmla="*/ 894954 h 4544704"/>
              <a:gd name="connsiteX9" fmla="*/ 2463421 w 4544704"/>
              <a:gd name="connsiteY9" fmla="*/ 894954 h 4544704"/>
              <a:gd name="connsiteX10" fmla="*/ 2463421 w 4544704"/>
              <a:gd name="connsiteY10" fmla="*/ 3528972 h 4544704"/>
              <a:gd name="connsiteX11" fmla="*/ 2081283 w 4544704"/>
              <a:gd name="connsiteY11" fmla="*/ 3528972 h 4544704"/>
              <a:gd name="connsiteX12" fmla="*/ 631912 w 4544704"/>
              <a:gd name="connsiteY12" fmla="*/ 249116 h 4544704"/>
              <a:gd name="connsiteX13" fmla="*/ 249116 w 4544704"/>
              <a:gd name="connsiteY13" fmla="*/ 631912 h 4544704"/>
              <a:gd name="connsiteX14" fmla="*/ 249116 w 4544704"/>
              <a:gd name="connsiteY14" fmla="*/ 3912793 h 4544704"/>
              <a:gd name="connsiteX15" fmla="*/ 631912 w 4544704"/>
              <a:gd name="connsiteY15" fmla="*/ 4295589 h 4544704"/>
              <a:gd name="connsiteX16" fmla="*/ 3912793 w 4544704"/>
              <a:gd name="connsiteY16" fmla="*/ 4295589 h 4544704"/>
              <a:gd name="connsiteX17" fmla="*/ 4295589 w 4544704"/>
              <a:gd name="connsiteY17" fmla="*/ 3912793 h 4544704"/>
              <a:gd name="connsiteX18" fmla="*/ 4295589 w 4544704"/>
              <a:gd name="connsiteY18" fmla="*/ 631912 h 4544704"/>
              <a:gd name="connsiteX19" fmla="*/ 3912793 w 4544704"/>
              <a:gd name="connsiteY19" fmla="*/ 249116 h 4544704"/>
              <a:gd name="connsiteX20" fmla="*/ 429929 w 4544704"/>
              <a:gd name="connsiteY20" fmla="*/ 0 h 4544704"/>
              <a:gd name="connsiteX21" fmla="*/ 4114775 w 4544704"/>
              <a:gd name="connsiteY21" fmla="*/ 0 h 4544704"/>
              <a:gd name="connsiteX22" fmla="*/ 4544704 w 4544704"/>
              <a:gd name="connsiteY22" fmla="*/ 429929 h 4544704"/>
              <a:gd name="connsiteX23" fmla="*/ 4544704 w 4544704"/>
              <a:gd name="connsiteY23" fmla="*/ 4114775 h 4544704"/>
              <a:gd name="connsiteX24" fmla="*/ 4114775 w 4544704"/>
              <a:gd name="connsiteY24" fmla="*/ 4544704 h 4544704"/>
              <a:gd name="connsiteX25" fmla="*/ 429929 w 4544704"/>
              <a:gd name="connsiteY25" fmla="*/ 4544704 h 4544704"/>
              <a:gd name="connsiteX26" fmla="*/ 0 w 4544704"/>
              <a:gd name="connsiteY26" fmla="*/ 4114775 h 4544704"/>
              <a:gd name="connsiteX27" fmla="*/ 0 w 4544704"/>
              <a:gd name="connsiteY27" fmla="*/ 429929 h 4544704"/>
              <a:gd name="connsiteX28" fmla="*/ 429929 w 4544704"/>
              <a:gd name="connsiteY28" fmla="*/ 0 h 454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544704" h="4544704">
                <a:moveTo>
                  <a:pt x="3009329" y="2055014"/>
                </a:moveTo>
                <a:lnTo>
                  <a:pt x="3391467" y="2055014"/>
                </a:lnTo>
                <a:lnTo>
                  <a:pt x="3391467" y="3528972"/>
                </a:lnTo>
                <a:lnTo>
                  <a:pt x="3009329" y="3528972"/>
                </a:lnTo>
                <a:close/>
                <a:moveTo>
                  <a:pt x="1132765" y="1495456"/>
                </a:moveTo>
                <a:lnTo>
                  <a:pt x="1514903" y="1495456"/>
                </a:lnTo>
                <a:lnTo>
                  <a:pt x="1514903" y="3528972"/>
                </a:lnTo>
                <a:lnTo>
                  <a:pt x="1132765" y="3528972"/>
                </a:lnTo>
                <a:close/>
                <a:moveTo>
                  <a:pt x="2081283" y="894954"/>
                </a:moveTo>
                <a:lnTo>
                  <a:pt x="2463421" y="894954"/>
                </a:lnTo>
                <a:lnTo>
                  <a:pt x="2463421" y="3528972"/>
                </a:lnTo>
                <a:lnTo>
                  <a:pt x="2081283" y="3528972"/>
                </a:lnTo>
                <a:close/>
                <a:moveTo>
                  <a:pt x="631912" y="249116"/>
                </a:moveTo>
                <a:cubicBezTo>
                  <a:pt x="420500" y="249116"/>
                  <a:pt x="249116" y="420500"/>
                  <a:pt x="249116" y="631912"/>
                </a:cubicBezTo>
                <a:lnTo>
                  <a:pt x="249116" y="3912793"/>
                </a:lnTo>
                <a:cubicBezTo>
                  <a:pt x="249116" y="4124205"/>
                  <a:pt x="420500" y="4295589"/>
                  <a:pt x="631912" y="4295589"/>
                </a:cubicBezTo>
                <a:lnTo>
                  <a:pt x="3912793" y="4295589"/>
                </a:lnTo>
                <a:cubicBezTo>
                  <a:pt x="4124205" y="4295589"/>
                  <a:pt x="4295589" y="4124205"/>
                  <a:pt x="4295589" y="3912793"/>
                </a:cubicBezTo>
                <a:lnTo>
                  <a:pt x="4295589" y="631912"/>
                </a:lnTo>
                <a:cubicBezTo>
                  <a:pt x="4295589" y="420500"/>
                  <a:pt x="4124205" y="249116"/>
                  <a:pt x="3912793" y="249116"/>
                </a:cubicBezTo>
                <a:close/>
                <a:moveTo>
                  <a:pt x="429929" y="0"/>
                </a:moveTo>
                <a:lnTo>
                  <a:pt x="4114775" y="0"/>
                </a:lnTo>
                <a:cubicBezTo>
                  <a:pt x="4352218" y="0"/>
                  <a:pt x="4544704" y="192486"/>
                  <a:pt x="4544704" y="429929"/>
                </a:cubicBezTo>
                <a:lnTo>
                  <a:pt x="4544704" y="4114775"/>
                </a:lnTo>
                <a:cubicBezTo>
                  <a:pt x="4544704" y="4352218"/>
                  <a:pt x="4352218" y="4544704"/>
                  <a:pt x="4114775" y="4544704"/>
                </a:cubicBezTo>
                <a:lnTo>
                  <a:pt x="429929" y="4544704"/>
                </a:lnTo>
                <a:cubicBezTo>
                  <a:pt x="192486" y="4544704"/>
                  <a:pt x="0" y="4352218"/>
                  <a:pt x="0" y="4114775"/>
                </a:cubicBezTo>
                <a:lnTo>
                  <a:pt x="0" y="429929"/>
                </a:lnTo>
                <a:cubicBezTo>
                  <a:pt x="0" y="192486"/>
                  <a:pt x="192486" y="0"/>
                  <a:pt x="429929"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chemeClr val="tx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4" name="任意多边形 63"/>
          <p:cNvSpPr>
            <a:spLocks noChangeAspect="1"/>
          </p:cNvSpPr>
          <p:nvPr>
            <p:custDataLst>
              <p:tags r:id="rId11"/>
            </p:custDataLst>
          </p:nvPr>
        </p:nvSpPr>
        <p:spPr>
          <a:xfrm>
            <a:off x="10078583" y="4322094"/>
            <a:ext cx="360000" cy="360000"/>
          </a:xfrm>
          <a:custGeom>
            <a:avLst/>
            <a:gdLst>
              <a:gd name="connsiteX0" fmla="*/ 1869743 w 6414448"/>
              <a:gd name="connsiteY0" fmla="*/ 4449168 h 6414447"/>
              <a:gd name="connsiteX1" fmla="*/ 5540991 w 6414448"/>
              <a:gd name="connsiteY1" fmla="*/ 4449168 h 6414447"/>
              <a:gd name="connsiteX2" fmla="*/ 5540991 w 6414448"/>
              <a:gd name="connsiteY2" fmla="*/ 4809168 h 6414447"/>
              <a:gd name="connsiteX3" fmla="*/ 1869743 w 6414448"/>
              <a:gd name="connsiteY3" fmla="*/ 4809168 h 6414447"/>
              <a:gd name="connsiteX4" fmla="*/ 1037230 w 6414448"/>
              <a:gd name="connsiteY4" fmla="*/ 4449168 h 6414447"/>
              <a:gd name="connsiteX5" fmla="*/ 1665027 w 6414448"/>
              <a:gd name="connsiteY5" fmla="*/ 4449168 h 6414447"/>
              <a:gd name="connsiteX6" fmla="*/ 1665027 w 6414448"/>
              <a:gd name="connsiteY6" fmla="*/ 4809168 h 6414447"/>
              <a:gd name="connsiteX7" fmla="*/ 1037230 w 6414448"/>
              <a:gd name="connsiteY7" fmla="*/ 4809168 h 6414447"/>
              <a:gd name="connsiteX8" fmla="*/ 1869743 w 6414448"/>
              <a:gd name="connsiteY8" fmla="*/ 3452882 h 6414447"/>
              <a:gd name="connsiteX9" fmla="*/ 5540991 w 6414448"/>
              <a:gd name="connsiteY9" fmla="*/ 3452882 h 6414447"/>
              <a:gd name="connsiteX10" fmla="*/ 5540991 w 6414448"/>
              <a:gd name="connsiteY10" fmla="*/ 3812882 h 6414447"/>
              <a:gd name="connsiteX11" fmla="*/ 1869743 w 6414448"/>
              <a:gd name="connsiteY11" fmla="*/ 3812882 h 6414447"/>
              <a:gd name="connsiteX12" fmla="*/ 1037230 w 6414448"/>
              <a:gd name="connsiteY12" fmla="*/ 3452882 h 6414447"/>
              <a:gd name="connsiteX13" fmla="*/ 1665027 w 6414448"/>
              <a:gd name="connsiteY13" fmla="*/ 3452882 h 6414447"/>
              <a:gd name="connsiteX14" fmla="*/ 1665027 w 6414448"/>
              <a:gd name="connsiteY14" fmla="*/ 3812882 h 6414447"/>
              <a:gd name="connsiteX15" fmla="*/ 1037230 w 6414448"/>
              <a:gd name="connsiteY15" fmla="*/ 3812882 h 6414447"/>
              <a:gd name="connsiteX16" fmla="*/ 1037230 w 6414448"/>
              <a:gd name="connsiteY16" fmla="*/ 2456597 h 6414447"/>
              <a:gd name="connsiteX17" fmla="*/ 1665027 w 6414448"/>
              <a:gd name="connsiteY17" fmla="*/ 2456597 h 6414447"/>
              <a:gd name="connsiteX18" fmla="*/ 1665027 w 6414448"/>
              <a:gd name="connsiteY18" fmla="*/ 2816597 h 6414447"/>
              <a:gd name="connsiteX19" fmla="*/ 1037230 w 6414448"/>
              <a:gd name="connsiteY19" fmla="*/ 2816597 h 6414447"/>
              <a:gd name="connsiteX20" fmla="*/ 1869743 w 6414448"/>
              <a:gd name="connsiteY20" fmla="*/ 2456596 h 6414447"/>
              <a:gd name="connsiteX21" fmla="*/ 5540991 w 6414448"/>
              <a:gd name="connsiteY21" fmla="*/ 2456596 h 6414447"/>
              <a:gd name="connsiteX22" fmla="*/ 5540991 w 6414448"/>
              <a:gd name="connsiteY22" fmla="*/ 2816597 h 6414447"/>
              <a:gd name="connsiteX23" fmla="*/ 1869743 w 6414448"/>
              <a:gd name="connsiteY23" fmla="*/ 2816597 h 6414447"/>
              <a:gd name="connsiteX24" fmla="*/ 1869743 w 6414448"/>
              <a:gd name="connsiteY24" fmla="*/ 1473958 h 6414447"/>
              <a:gd name="connsiteX25" fmla="*/ 5540991 w 6414448"/>
              <a:gd name="connsiteY25" fmla="*/ 1473958 h 6414447"/>
              <a:gd name="connsiteX26" fmla="*/ 5540991 w 6414448"/>
              <a:gd name="connsiteY26" fmla="*/ 1833958 h 6414447"/>
              <a:gd name="connsiteX27" fmla="*/ 1869743 w 6414448"/>
              <a:gd name="connsiteY27" fmla="*/ 1833958 h 6414447"/>
              <a:gd name="connsiteX28" fmla="*/ 1037230 w 6414448"/>
              <a:gd name="connsiteY28" fmla="*/ 1473958 h 6414447"/>
              <a:gd name="connsiteX29" fmla="*/ 1665027 w 6414448"/>
              <a:gd name="connsiteY29" fmla="*/ 1473958 h 6414447"/>
              <a:gd name="connsiteX30" fmla="*/ 1665027 w 6414448"/>
              <a:gd name="connsiteY30" fmla="*/ 1833958 h 6414447"/>
              <a:gd name="connsiteX31" fmla="*/ 1037230 w 6414448"/>
              <a:gd name="connsiteY31" fmla="*/ 1833958 h 6414447"/>
              <a:gd name="connsiteX32" fmla="*/ 875226 w 6414448"/>
              <a:gd name="connsiteY32" fmla="*/ 323830 h 6414447"/>
              <a:gd name="connsiteX33" fmla="*/ 317798 w 6414448"/>
              <a:gd name="connsiteY33" fmla="*/ 881258 h 6414447"/>
              <a:gd name="connsiteX34" fmla="*/ 317798 w 6414448"/>
              <a:gd name="connsiteY34" fmla="*/ 5545253 h 6414447"/>
              <a:gd name="connsiteX35" fmla="*/ 875226 w 6414448"/>
              <a:gd name="connsiteY35" fmla="*/ 6102681 h 6414447"/>
              <a:gd name="connsiteX36" fmla="*/ 5539222 w 6414448"/>
              <a:gd name="connsiteY36" fmla="*/ 6102681 h 6414447"/>
              <a:gd name="connsiteX37" fmla="*/ 6096650 w 6414448"/>
              <a:gd name="connsiteY37" fmla="*/ 5545253 h 6414447"/>
              <a:gd name="connsiteX38" fmla="*/ 6096650 w 6414448"/>
              <a:gd name="connsiteY38" fmla="*/ 881258 h 6414447"/>
              <a:gd name="connsiteX39" fmla="*/ 5539222 w 6414448"/>
              <a:gd name="connsiteY39" fmla="*/ 323830 h 6414447"/>
              <a:gd name="connsiteX40" fmla="*/ 618739 w 6414448"/>
              <a:gd name="connsiteY40" fmla="*/ 0 h 6414447"/>
              <a:gd name="connsiteX41" fmla="*/ 5795710 w 6414448"/>
              <a:gd name="connsiteY41" fmla="*/ 0 h 6414447"/>
              <a:gd name="connsiteX42" fmla="*/ 6414448 w 6414448"/>
              <a:gd name="connsiteY42" fmla="*/ 618738 h 6414447"/>
              <a:gd name="connsiteX43" fmla="*/ 6414448 w 6414448"/>
              <a:gd name="connsiteY43" fmla="*/ 5795709 h 6414447"/>
              <a:gd name="connsiteX44" fmla="*/ 5795710 w 6414448"/>
              <a:gd name="connsiteY44" fmla="*/ 6414447 h 6414447"/>
              <a:gd name="connsiteX45" fmla="*/ 618739 w 6414448"/>
              <a:gd name="connsiteY45" fmla="*/ 6414447 h 6414447"/>
              <a:gd name="connsiteX46" fmla="*/ 0 w 6414448"/>
              <a:gd name="connsiteY46" fmla="*/ 5795709 h 6414447"/>
              <a:gd name="connsiteX47" fmla="*/ 0 w 6414448"/>
              <a:gd name="connsiteY47" fmla="*/ 618738 h 6414447"/>
              <a:gd name="connsiteX48" fmla="*/ 618739 w 6414448"/>
              <a:gd name="connsiteY48" fmla="*/ 0 h 641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414448" h="6414447">
                <a:moveTo>
                  <a:pt x="1869743" y="4449168"/>
                </a:moveTo>
                <a:lnTo>
                  <a:pt x="5540991" y="4449168"/>
                </a:lnTo>
                <a:lnTo>
                  <a:pt x="5540991" y="4809168"/>
                </a:lnTo>
                <a:lnTo>
                  <a:pt x="1869743" y="4809168"/>
                </a:lnTo>
                <a:close/>
                <a:moveTo>
                  <a:pt x="1037230" y="4449168"/>
                </a:moveTo>
                <a:lnTo>
                  <a:pt x="1665027" y="4449168"/>
                </a:lnTo>
                <a:lnTo>
                  <a:pt x="1665027" y="4809168"/>
                </a:lnTo>
                <a:lnTo>
                  <a:pt x="1037230" y="4809168"/>
                </a:lnTo>
                <a:close/>
                <a:moveTo>
                  <a:pt x="1869743" y="3452882"/>
                </a:moveTo>
                <a:lnTo>
                  <a:pt x="5540991" y="3452882"/>
                </a:lnTo>
                <a:lnTo>
                  <a:pt x="5540991" y="3812882"/>
                </a:lnTo>
                <a:lnTo>
                  <a:pt x="1869743" y="3812882"/>
                </a:lnTo>
                <a:close/>
                <a:moveTo>
                  <a:pt x="1037230" y="3452882"/>
                </a:moveTo>
                <a:lnTo>
                  <a:pt x="1665027" y="3452882"/>
                </a:lnTo>
                <a:lnTo>
                  <a:pt x="1665027" y="3812882"/>
                </a:lnTo>
                <a:lnTo>
                  <a:pt x="1037230" y="3812882"/>
                </a:lnTo>
                <a:close/>
                <a:moveTo>
                  <a:pt x="1037230" y="2456597"/>
                </a:moveTo>
                <a:lnTo>
                  <a:pt x="1665027" y="2456597"/>
                </a:lnTo>
                <a:lnTo>
                  <a:pt x="1665027" y="2816597"/>
                </a:lnTo>
                <a:lnTo>
                  <a:pt x="1037230" y="2816597"/>
                </a:lnTo>
                <a:close/>
                <a:moveTo>
                  <a:pt x="1869743" y="2456596"/>
                </a:moveTo>
                <a:lnTo>
                  <a:pt x="5540991" y="2456596"/>
                </a:lnTo>
                <a:lnTo>
                  <a:pt x="5540991" y="2816597"/>
                </a:lnTo>
                <a:lnTo>
                  <a:pt x="1869743" y="2816597"/>
                </a:lnTo>
                <a:close/>
                <a:moveTo>
                  <a:pt x="1869743" y="1473958"/>
                </a:moveTo>
                <a:lnTo>
                  <a:pt x="5540991" y="1473958"/>
                </a:lnTo>
                <a:lnTo>
                  <a:pt x="5540991" y="1833958"/>
                </a:lnTo>
                <a:lnTo>
                  <a:pt x="1869743" y="1833958"/>
                </a:lnTo>
                <a:close/>
                <a:moveTo>
                  <a:pt x="1037230" y="1473958"/>
                </a:moveTo>
                <a:lnTo>
                  <a:pt x="1665027" y="1473958"/>
                </a:lnTo>
                <a:lnTo>
                  <a:pt x="1665027" y="1833958"/>
                </a:lnTo>
                <a:lnTo>
                  <a:pt x="1037230" y="1833958"/>
                </a:lnTo>
                <a:close/>
                <a:moveTo>
                  <a:pt x="875226" y="323830"/>
                </a:moveTo>
                <a:cubicBezTo>
                  <a:pt x="567367" y="323830"/>
                  <a:pt x="317798" y="573399"/>
                  <a:pt x="317798" y="881258"/>
                </a:cubicBezTo>
                <a:lnTo>
                  <a:pt x="317798" y="5545253"/>
                </a:lnTo>
                <a:cubicBezTo>
                  <a:pt x="317798" y="5853112"/>
                  <a:pt x="567367" y="6102681"/>
                  <a:pt x="875226" y="6102681"/>
                </a:cubicBezTo>
                <a:lnTo>
                  <a:pt x="5539222" y="6102681"/>
                </a:lnTo>
                <a:cubicBezTo>
                  <a:pt x="5847081" y="6102681"/>
                  <a:pt x="6096650" y="5853112"/>
                  <a:pt x="6096650" y="5545253"/>
                </a:cubicBezTo>
                <a:lnTo>
                  <a:pt x="6096650" y="881258"/>
                </a:lnTo>
                <a:cubicBezTo>
                  <a:pt x="6096650" y="573399"/>
                  <a:pt x="5847081" y="323830"/>
                  <a:pt x="5539222" y="323830"/>
                </a:cubicBezTo>
                <a:close/>
                <a:moveTo>
                  <a:pt x="618739" y="0"/>
                </a:moveTo>
                <a:lnTo>
                  <a:pt x="5795710" y="0"/>
                </a:lnTo>
                <a:cubicBezTo>
                  <a:pt x="6137430" y="0"/>
                  <a:pt x="6414448" y="277018"/>
                  <a:pt x="6414448" y="618738"/>
                </a:cubicBezTo>
                <a:lnTo>
                  <a:pt x="6414448" y="5795709"/>
                </a:lnTo>
                <a:cubicBezTo>
                  <a:pt x="6414448" y="6137429"/>
                  <a:pt x="6137430" y="6414447"/>
                  <a:pt x="5795710" y="6414447"/>
                </a:cubicBezTo>
                <a:lnTo>
                  <a:pt x="618739" y="6414447"/>
                </a:lnTo>
                <a:cubicBezTo>
                  <a:pt x="277019" y="6414447"/>
                  <a:pt x="0" y="6137429"/>
                  <a:pt x="0" y="5795709"/>
                </a:cubicBezTo>
                <a:lnTo>
                  <a:pt x="0" y="618738"/>
                </a:lnTo>
                <a:cubicBezTo>
                  <a:pt x="0" y="277018"/>
                  <a:pt x="277019" y="0"/>
                  <a:pt x="618739"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chemeClr val="tx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5" name="任意多边形 64"/>
          <p:cNvSpPr>
            <a:spLocks noChangeAspect="1"/>
          </p:cNvSpPr>
          <p:nvPr>
            <p:custDataLst>
              <p:tags r:id="rId12"/>
            </p:custDataLst>
          </p:nvPr>
        </p:nvSpPr>
        <p:spPr>
          <a:xfrm>
            <a:off x="8290703" y="4322094"/>
            <a:ext cx="350732" cy="360000"/>
          </a:xfrm>
          <a:custGeom>
            <a:avLst/>
            <a:gdLst>
              <a:gd name="connsiteX0" fmla="*/ 2326943 w 5404989"/>
              <a:gd name="connsiteY0" fmla="*/ 407402 h 5547815"/>
              <a:gd name="connsiteX1" fmla="*/ 407401 w 5404989"/>
              <a:gd name="connsiteY1" fmla="*/ 2326944 h 5547815"/>
              <a:gd name="connsiteX2" fmla="*/ 2326943 w 5404989"/>
              <a:gd name="connsiteY2" fmla="*/ 4246486 h 5547815"/>
              <a:gd name="connsiteX3" fmla="*/ 4246485 w 5404989"/>
              <a:gd name="connsiteY3" fmla="*/ 2326944 h 5547815"/>
              <a:gd name="connsiteX4" fmla="*/ 2326943 w 5404989"/>
              <a:gd name="connsiteY4" fmla="*/ 407402 h 5547815"/>
              <a:gd name="connsiteX5" fmla="*/ 2326944 w 5404989"/>
              <a:gd name="connsiteY5" fmla="*/ 0 h 5547815"/>
              <a:gd name="connsiteX6" fmla="*/ 4653888 w 5404989"/>
              <a:gd name="connsiteY6" fmla="*/ 2326944 h 5547815"/>
              <a:gd name="connsiteX7" fmla="*/ 4122527 w 5404989"/>
              <a:gd name="connsiteY7" fmla="*/ 3807097 h 5547815"/>
              <a:gd name="connsiteX8" fmla="*/ 4025541 w 5404989"/>
              <a:gd name="connsiteY8" fmla="*/ 3913809 h 5547815"/>
              <a:gd name="connsiteX9" fmla="*/ 5404989 w 5404989"/>
              <a:gd name="connsiteY9" fmla="*/ 5293257 h 5547815"/>
              <a:gd name="connsiteX10" fmla="*/ 5150430 w 5404989"/>
              <a:gd name="connsiteY10" fmla="*/ 5547815 h 5547815"/>
              <a:gd name="connsiteX11" fmla="*/ 3760207 w 5404989"/>
              <a:gd name="connsiteY11" fmla="*/ 4157591 h 5547815"/>
              <a:gd name="connsiteX12" fmla="*/ 3627961 w 5404989"/>
              <a:gd name="connsiteY12" fmla="*/ 4256483 h 5547815"/>
              <a:gd name="connsiteX13" fmla="*/ 2326944 w 5404989"/>
              <a:gd name="connsiteY13" fmla="*/ 4653888 h 5547815"/>
              <a:gd name="connsiteX14" fmla="*/ 0 w 5404989"/>
              <a:gd name="connsiteY14" fmla="*/ 2326944 h 5547815"/>
              <a:gd name="connsiteX15" fmla="*/ 2326944 w 5404989"/>
              <a:gd name="connsiteY15" fmla="*/ 0 h 554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4989" h="5547815">
                <a:moveTo>
                  <a:pt x="2326943" y="407402"/>
                </a:moveTo>
                <a:cubicBezTo>
                  <a:pt x="1266809" y="407402"/>
                  <a:pt x="407401" y="1266810"/>
                  <a:pt x="407401" y="2326944"/>
                </a:cubicBezTo>
                <a:cubicBezTo>
                  <a:pt x="407401" y="3387078"/>
                  <a:pt x="1266809" y="4246486"/>
                  <a:pt x="2326943" y="4246486"/>
                </a:cubicBezTo>
                <a:cubicBezTo>
                  <a:pt x="3387077" y="4246486"/>
                  <a:pt x="4246485" y="3387078"/>
                  <a:pt x="4246485" y="2326944"/>
                </a:cubicBezTo>
                <a:cubicBezTo>
                  <a:pt x="4246485" y="1266810"/>
                  <a:pt x="3387077" y="407402"/>
                  <a:pt x="2326943" y="407402"/>
                </a:cubicBezTo>
                <a:close/>
                <a:moveTo>
                  <a:pt x="2326944" y="0"/>
                </a:moveTo>
                <a:cubicBezTo>
                  <a:pt x="3612080" y="0"/>
                  <a:pt x="4653888" y="1041808"/>
                  <a:pt x="4653888" y="2326944"/>
                </a:cubicBezTo>
                <a:cubicBezTo>
                  <a:pt x="4653888" y="2889191"/>
                  <a:pt x="4454480" y="3404864"/>
                  <a:pt x="4122527" y="3807097"/>
                </a:cubicBezTo>
                <a:lnTo>
                  <a:pt x="4025541" y="3913809"/>
                </a:lnTo>
                <a:lnTo>
                  <a:pt x="5404989" y="5293257"/>
                </a:lnTo>
                <a:lnTo>
                  <a:pt x="5150430" y="5547815"/>
                </a:lnTo>
                <a:lnTo>
                  <a:pt x="3760207" y="4157591"/>
                </a:lnTo>
                <a:lnTo>
                  <a:pt x="3627961" y="4256483"/>
                </a:lnTo>
                <a:cubicBezTo>
                  <a:pt x="3256578" y="4507384"/>
                  <a:pt x="2808870" y="4653888"/>
                  <a:pt x="2326944" y="4653888"/>
                </a:cubicBezTo>
                <a:cubicBezTo>
                  <a:pt x="1041808" y="4653888"/>
                  <a:pt x="0" y="3612080"/>
                  <a:pt x="0" y="2326944"/>
                </a:cubicBezTo>
                <a:cubicBezTo>
                  <a:pt x="0" y="1041808"/>
                  <a:pt x="1041808" y="0"/>
                  <a:pt x="232694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chemeClr val="tx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heel(1)">
                                      <p:cBhvr>
                                        <p:cTn id="7" dur="1000"/>
                                        <p:tgtEl>
                                          <p:spTgt spid="25"/>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1000"/>
                                        <p:tgtEl>
                                          <p:spTgt spid="2"/>
                                        </p:tgtEl>
                                      </p:cBhvr>
                                    </p:animEffect>
                                  </p:childTnLst>
                                </p:cTn>
                              </p:par>
                            </p:childTnLst>
                          </p:cTn>
                        </p:par>
                        <p:par>
                          <p:cTn id="11" fill="hold">
                            <p:stCondLst>
                              <p:cond delay="1000"/>
                            </p:stCondLst>
                            <p:childTnLst>
                              <p:par>
                                <p:cTn id="12" presetID="2" presetClass="entr" presetSubtype="2" fill="hold" grpId="0" nodeType="afterEffect">
                                  <p:stCondLst>
                                    <p:cond delay="0"/>
                                  </p:stCondLst>
                                  <p:childTnLst>
                                    <p:set>
                                      <p:cBhvr>
                                        <p:cTn id="13" dur="1" fill="hold">
                                          <p:stCondLst>
                                            <p:cond delay="0"/>
                                          </p:stCondLst>
                                        </p:cTn>
                                        <p:tgtEl>
                                          <p:spTgt spid="50"/>
                                        </p:tgtEl>
                                        <p:attrNameLst>
                                          <p:attrName>style.visibility</p:attrName>
                                        </p:attrNameLst>
                                      </p:cBhvr>
                                      <p:to>
                                        <p:strVal val="visible"/>
                                      </p:to>
                                    </p:set>
                                    <p:anim calcmode="lin" valueType="num">
                                      <p:cBhvr additive="base">
                                        <p:cTn id="14" dur="500" fill="hold"/>
                                        <p:tgtEl>
                                          <p:spTgt spid="50"/>
                                        </p:tgtEl>
                                        <p:attrNameLst>
                                          <p:attrName>ppt_x</p:attrName>
                                        </p:attrNameLst>
                                      </p:cBhvr>
                                      <p:tavLst>
                                        <p:tav tm="0">
                                          <p:val>
                                            <p:strVal val="1+#ppt_w/2"/>
                                          </p:val>
                                        </p:tav>
                                        <p:tav tm="100000">
                                          <p:val>
                                            <p:strVal val="#ppt_x"/>
                                          </p:val>
                                        </p:tav>
                                      </p:tavLst>
                                    </p:anim>
                                    <p:anim calcmode="lin" valueType="num">
                                      <p:cBhvr additive="base">
                                        <p:cTn id="15" dur="500" fill="hold"/>
                                        <p:tgtEl>
                                          <p:spTgt spid="50"/>
                                        </p:tgtEl>
                                        <p:attrNameLst>
                                          <p:attrName>ppt_y</p:attrName>
                                        </p:attrNameLst>
                                      </p:cBhvr>
                                      <p:tavLst>
                                        <p:tav tm="0">
                                          <p:val>
                                            <p:strVal val="#ppt_y"/>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anim calcmode="lin" valueType="num">
                                      <p:cBhvr additive="base">
                                        <p:cTn id="18" dur="500" fill="hold"/>
                                        <p:tgtEl>
                                          <p:spTgt spid="51"/>
                                        </p:tgtEl>
                                        <p:attrNameLst>
                                          <p:attrName>ppt_x</p:attrName>
                                        </p:attrNameLst>
                                      </p:cBhvr>
                                      <p:tavLst>
                                        <p:tav tm="0">
                                          <p:val>
                                            <p:strVal val="#ppt_x"/>
                                          </p:val>
                                        </p:tav>
                                        <p:tav tm="100000">
                                          <p:val>
                                            <p:strVal val="#ppt_x"/>
                                          </p:val>
                                        </p:tav>
                                      </p:tavLst>
                                    </p:anim>
                                    <p:anim calcmode="lin" valueType="num">
                                      <p:cBhvr additive="base">
                                        <p:cTn id="19" dur="500" fill="hold"/>
                                        <p:tgtEl>
                                          <p:spTgt spid="51"/>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62"/>
                                        </p:tgtEl>
                                        <p:attrNameLst>
                                          <p:attrName>style.visibility</p:attrName>
                                        </p:attrNameLst>
                                      </p:cBhvr>
                                      <p:to>
                                        <p:strVal val="visible"/>
                                      </p:to>
                                    </p:set>
                                    <p:anim calcmode="lin" valueType="num">
                                      <p:cBhvr>
                                        <p:cTn id="23" dur="500" fill="hold"/>
                                        <p:tgtEl>
                                          <p:spTgt spid="62"/>
                                        </p:tgtEl>
                                        <p:attrNameLst>
                                          <p:attrName>ppt_w</p:attrName>
                                        </p:attrNameLst>
                                      </p:cBhvr>
                                      <p:tavLst>
                                        <p:tav tm="0">
                                          <p:val>
                                            <p:fltVal val="0"/>
                                          </p:val>
                                        </p:tav>
                                        <p:tav tm="100000">
                                          <p:val>
                                            <p:strVal val="#ppt_w"/>
                                          </p:val>
                                        </p:tav>
                                      </p:tavLst>
                                    </p:anim>
                                    <p:anim calcmode="lin" valueType="num">
                                      <p:cBhvr>
                                        <p:cTn id="24" dur="500" fill="hold"/>
                                        <p:tgtEl>
                                          <p:spTgt spid="62"/>
                                        </p:tgtEl>
                                        <p:attrNameLst>
                                          <p:attrName>ppt_h</p:attrName>
                                        </p:attrNameLst>
                                      </p:cBhvr>
                                      <p:tavLst>
                                        <p:tav tm="0">
                                          <p:val>
                                            <p:fltVal val="0"/>
                                          </p:val>
                                        </p:tav>
                                        <p:tav tm="100000">
                                          <p:val>
                                            <p:strVal val="#ppt_h"/>
                                          </p:val>
                                        </p:tav>
                                      </p:tavLst>
                                    </p:anim>
                                    <p:animEffect transition="in" filter="fade">
                                      <p:cBhvr>
                                        <p:cTn id="25" dur="500"/>
                                        <p:tgtEl>
                                          <p:spTgt spid="62"/>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fade">
                                      <p:cBhvr>
                                        <p:cTn id="29" dur="500"/>
                                        <p:tgtEl>
                                          <p:spTgt spid="5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childTnLst>
                          </p:cTn>
                        </p:par>
                        <p:par>
                          <p:cTn id="33" fill="hold">
                            <p:stCondLst>
                              <p:cond delay="2500"/>
                            </p:stCondLst>
                            <p:childTnLst>
                              <p:par>
                                <p:cTn id="34" presetID="53" presetClass="entr" presetSubtype="16" fill="hold" grpId="0" nodeType="afterEffect">
                                  <p:stCondLst>
                                    <p:cond delay="0"/>
                                  </p:stCondLst>
                                  <p:childTnLst>
                                    <p:set>
                                      <p:cBhvr>
                                        <p:cTn id="35" dur="1" fill="hold">
                                          <p:stCondLst>
                                            <p:cond delay="0"/>
                                          </p:stCondLst>
                                        </p:cTn>
                                        <p:tgtEl>
                                          <p:spTgt spid="63"/>
                                        </p:tgtEl>
                                        <p:attrNameLst>
                                          <p:attrName>style.visibility</p:attrName>
                                        </p:attrNameLst>
                                      </p:cBhvr>
                                      <p:to>
                                        <p:strVal val="visible"/>
                                      </p:to>
                                    </p:set>
                                    <p:anim calcmode="lin" valueType="num">
                                      <p:cBhvr>
                                        <p:cTn id="36" dur="500" fill="hold"/>
                                        <p:tgtEl>
                                          <p:spTgt spid="63"/>
                                        </p:tgtEl>
                                        <p:attrNameLst>
                                          <p:attrName>ppt_w</p:attrName>
                                        </p:attrNameLst>
                                      </p:cBhvr>
                                      <p:tavLst>
                                        <p:tav tm="0">
                                          <p:val>
                                            <p:fltVal val="0"/>
                                          </p:val>
                                        </p:tav>
                                        <p:tav tm="100000">
                                          <p:val>
                                            <p:strVal val="#ppt_w"/>
                                          </p:val>
                                        </p:tav>
                                      </p:tavLst>
                                    </p:anim>
                                    <p:anim calcmode="lin" valueType="num">
                                      <p:cBhvr>
                                        <p:cTn id="37" dur="500" fill="hold"/>
                                        <p:tgtEl>
                                          <p:spTgt spid="63"/>
                                        </p:tgtEl>
                                        <p:attrNameLst>
                                          <p:attrName>ppt_h</p:attrName>
                                        </p:attrNameLst>
                                      </p:cBhvr>
                                      <p:tavLst>
                                        <p:tav tm="0">
                                          <p:val>
                                            <p:fltVal val="0"/>
                                          </p:val>
                                        </p:tav>
                                        <p:tav tm="100000">
                                          <p:val>
                                            <p:strVal val="#ppt_h"/>
                                          </p:val>
                                        </p:tav>
                                      </p:tavLst>
                                    </p:anim>
                                    <p:animEffect transition="in" filter="fade">
                                      <p:cBhvr>
                                        <p:cTn id="38" dur="500"/>
                                        <p:tgtEl>
                                          <p:spTgt spid="63"/>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fade">
                                      <p:cBhvr>
                                        <p:cTn id="45" dur="500"/>
                                        <p:tgtEl>
                                          <p:spTgt spid="58"/>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65"/>
                                        </p:tgtEl>
                                        <p:attrNameLst>
                                          <p:attrName>style.visibility</p:attrName>
                                        </p:attrNameLst>
                                      </p:cBhvr>
                                      <p:to>
                                        <p:strVal val="visible"/>
                                      </p:to>
                                    </p:set>
                                    <p:anim calcmode="lin" valueType="num">
                                      <p:cBhvr>
                                        <p:cTn id="49" dur="500" fill="hold"/>
                                        <p:tgtEl>
                                          <p:spTgt spid="65"/>
                                        </p:tgtEl>
                                        <p:attrNameLst>
                                          <p:attrName>ppt_w</p:attrName>
                                        </p:attrNameLst>
                                      </p:cBhvr>
                                      <p:tavLst>
                                        <p:tav tm="0">
                                          <p:val>
                                            <p:fltVal val="0"/>
                                          </p:val>
                                        </p:tav>
                                        <p:tav tm="100000">
                                          <p:val>
                                            <p:strVal val="#ppt_w"/>
                                          </p:val>
                                        </p:tav>
                                      </p:tavLst>
                                    </p:anim>
                                    <p:anim calcmode="lin" valueType="num">
                                      <p:cBhvr>
                                        <p:cTn id="50" dur="500" fill="hold"/>
                                        <p:tgtEl>
                                          <p:spTgt spid="65"/>
                                        </p:tgtEl>
                                        <p:attrNameLst>
                                          <p:attrName>ppt_h</p:attrName>
                                        </p:attrNameLst>
                                      </p:cBhvr>
                                      <p:tavLst>
                                        <p:tav tm="0">
                                          <p:val>
                                            <p:fltVal val="0"/>
                                          </p:val>
                                        </p:tav>
                                        <p:tav tm="100000">
                                          <p:val>
                                            <p:strVal val="#ppt_h"/>
                                          </p:val>
                                        </p:tav>
                                      </p:tavLst>
                                    </p:anim>
                                    <p:animEffect transition="in" filter="fade">
                                      <p:cBhvr>
                                        <p:cTn id="51" dur="500"/>
                                        <p:tgtEl>
                                          <p:spTgt spid="65"/>
                                        </p:tgtEl>
                                      </p:cBhvr>
                                    </p:animEffect>
                                  </p:childTnLst>
                                </p:cTn>
                              </p:par>
                            </p:childTnLst>
                          </p:cTn>
                        </p:par>
                        <p:par>
                          <p:cTn id="52" fill="hold">
                            <p:stCondLst>
                              <p:cond delay="4000"/>
                            </p:stCondLst>
                            <p:childTnLst>
                              <p:par>
                                <p:cTn id="53" presetID="10" presetClass="entr" presetSubtype="0" fill="hold" grpId="0" nodeType="after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childTnLst>
                          </p:cTn>
                        </p:par>
                        <p:par>
                          <p:cTn id="59" fill="hold">
                            <p:stCondLst>
                              <p:cond delay="4500"/>
                            </p:stCondLst>
                            <p:childTnLst>
                              <p:par>
                                <p:cTn id="60" presetID="53" presetClass="entr" presetSubtype="16" fill="hold" grpId="0" nodeType="afterEffect">
                                  <p:stCondLst>
                                    <p:cond delay="0"/>
                                  </p:stCondLst>
                                  <p:childTnLst>
                                    <p:set>
                                      <p:cBhvr>
                                        <p:cTn id="61" dur="1" fill="hold">
                                          <p:stCondLst>
                                            <p:cond delay="0"/>
                                          </p:stCondLst>
                                        </p:cTn>
                                        <p:tgtEl>
                                          <p:spTgt spid="64"/>
                                        </p:tgtEl>
                                        <p:attrNameLst>
                                          <p:attrName>style.visibility</p:attrName>
                                        </p:attrNameLst>
                                      </p:cBhvr>
                                      <p:to>
                                        <p:strVal val="visible"/>
                                      </p:to>
                                    </p:set>
                                    <p:anim calcmode="lin" valueType="num">
                                      <p:cBhvr>
                                        <p:cTn id="62" dur="500" fill="hold"/>
                                        <p:tgtEl>
                                          <p:spTgt spid="64"/>
                                        </p:tgtEl>
                                        <p:attrNameLst>
                                          <p:attrName>ppt_w</p:attrName>
                                        </p:attrNameLst>
                                      </p:cBhvr>
                                      <p:tavLst>
                                        <p:tav tm="0">
                                          <p:val>
                                            <p:fltVal val="0"/>
                                          </p:val>
                                        </p:tav>
                                        <p:tav tm="100000">
                                          <p:val>
                                            <p:strVal val="#ppt_w"/>
                                          </p:val>
                                        </p:tav>
                                      </p:tavLst>
                                    </p:anim>
                                    <p:anim calcmode="lin" valueType="num">
                                      <p:cBhvr>
                                        <p:cTn id="63" dur="500" fill="hold"/>
                                        <p:tgtEl>
                                          <p:spTgt spid="64"/>
                                        </p:tgtEl>
                                        <p:attrNameLst>
                                          <p:attrName>ppt_h</p:attrName>
                                        </p:attrNameLst>
                                      </p:cBhvr>
                                      <p:tavLst>
                                        <p:tav tm="0">
                                          <p:val>
                                            <p:fltVal val="0"/>
                                          </p:val>
                                        </p:tav>
                                        <p:tav tm="100000">
                                          <p:val>
                                            <p:strVal val="#ppt_h"/>
                                          </p:val>
                                        </p:tav>
                                      </p:tavLst>
                                    </p:anim>
                                    <p:animEffect transition="in" filter="fade">
                                      <p:cBhvr>
                                        <p:cTn id="64" dur="500"/>
                                        <p:tgtEl>
                                          <p:spTgt spid="64"/>
                                        </p:tgtEl>
                                      </p:cBhvr>
                                    </p:animEffect>
                                  </p:childTnLst>
                                </p:cTn>
                              </p:par>
                            </p:childTnLst>
                          </p:cTn>
                        </p:par>
                        <p:par>
                          <p:cTn id="65" fill="hold">
                            <p:stCondLst>
                              <p:cond delay="5000"/>
                            </p:stCondLst>
                            <p:childTnLst>
                              <p:par>
                                <p:cTn id="66" presetID="10" presetClass="entr" presetSubtype="0" fill="hold" grpId="0" nodeType="afterEffect">
                                  <p:stCondLst>
                                    <p:cond delay="0"/>
                                  </p:stCondLst>
                                  <p:childTnLst>
                                    <p:set>
                                      <p:cBhvr>
                                        <p:cTn id="67" dur="1" fill="hold">
                                          <p:stCondLst>
                                            <p:cond delay="0"/>
                                          </p:stCondLst>
                                        </p:cTn>
                                        <p:tgtEl>
                                          <p:spTgt spid="56"/>
                                        </p:tgtEl>
                                        <p:attrNameLst>
                                          <p:attrName>style.visibility</p:attrName>
                                        </p:attrNameLst>
                                      </p:cBhvr>
                                      <p:to>
                                        <p:strVal val="visible"/>
                                      </p:to>
                                    </p:set>
                                    <p:animEffect transition="in" filter="fade">
                                      <p:cBhvr>
                                        <p:cTn id="68" dur="500"/>
                                        <p:tgtEl>
                                          <p:spTgt spid="5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animEffect transition="in" filter="fade">
                                      <p:cBhvr>
                                        <p:cTn id="71"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 grpId="0" animBg="1"/>
      <p:bldP spid="50" grpId="0"/>
      <p:bldP spid="51" grpId="0"/>
      <p:bldP spid="52" grpId="0"/>
      <p:bldP spid="53" grpId="0"/>
      <p:bldP spid="55" grpId="0"/>
      <p:bldP spid="56" grpId="0"/>
      <p:bldP spid="57" grpId="0"/>
      <p:bldP spid="58" grpId="0"/>
      <p:bldP spid="60" grpId="0"/>
      <p:bldP spid="61" grpId="0"/>
      <p:bldP spid="62" grpId="0" animBg="1"/>
      <p:bldP spid="63" grpId="0" animBg="1"/>
      <p:bldP spid="64" grpId="0" animBg="1"/>
      <p:bldP spid="6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61535" y="-415636"/>
            <a:ext cx="11194026" cy="55279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9" name="矩形 8"/>
          <p:cNvSpPr/>
          <p:nvPr/>
        </p:nvSpPr>
        <p:spPr>
          <a:xfrm>
            <a:off x="-2140527" y="1849582"/>
            <a:ext cx="12115800" cy="58812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12"/>
          <p:cNvSpPr txBox="1"/>
          <p:nvPr/>
        </p:nvSpPr>
        <p:spPr>
          <a:xfrm>
            <a:off x="5893881" y="535680"/>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4" name="文本占位符 14"/>
          <p:cNvSpPr txBox="1"/>
          <p:nvPr/>
        </p:nvSpPr>
        <p:spPr>
          <a:xfrm>
            <a:off x="5893881" y="1040487"/>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5" name="文本占位符 15"/>
          <p:cNvSpPr txBox="1"/>
          <p:nvPr/>
        </p:nvSpPr>
        <p:spPr>
          <a:xfrm>
            <a:off x="7708392" y="535680"/>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6" name="文本占位符 16"/>
          <p:cNvSpPr txBox="1"/>
          <p:nvPr/>
        </p:nvSpPr>
        <p:spPr>
          <a:xfrm>
            <a:off x="7708392" y="1040487"/>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7" name="文本占位符 17"/>
          <p:cNvSpPr txBox="1"/>
          <p:nvPr/>
        </p:nvSpPr>
        <p:spPr>
          <a:xfrm>
            <a:off x="3117688" y="549522"/>
            <a:ext cx="2310428" cy="584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90204" pitchFamily="34" charset="0"/>
              <a:buNone/>
            </a:pPr>
            <a:endParaRPr lang="zh-CN" altLang="en-US"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8" name="文本占位符 13"/>
          <p:cNvSpPr txBox="1"/>
          <p:nvPr/>
        </p:nvSpPr>
        <p:spPr>
          <a:xfrm>
            <a:off x="3117689" y="1080563"/>
            <a:ext cx="2310427" cy="381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Font typeface="Arial" panose="020B0604020202090204" pitchFamily="34" charset="0"/>
              <a:buNone/>
            </a:pPr>
            <a:endParaRPr lang="zh-CN" altLang="en-US" sz="1600" i="1"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cxnSp>
        <p:nvCxnSpPr>
          <p:cNvPr id="29" name="直接连接符 28"/>
          <p:cNvCxnSpPr/>
          <p:nvPr/>
        </p:nvCxnSpPr>
        <p:spPr>
          <a:xfrm flipV="1">
            <a:off x="5473266" y="3082125"/>
            <a:ext cx="0" cy="82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365654" y="3063025"/>
            <a:ext cx="1605280" cy="521970"/>
          </a:xfrm>
          <a:prstGeom prst="rect">
            <a:avLst/>
          </a:prstGeom>
          <a:noFill/>
        </p:spPr>
        <p:txBody>
          <a:bodyPr wrap="none" rtlCol="0">
            <a:spAutoFit/>
          </a:bodyPr>
          <a:lstStyle/>
          <a:p>
            <a:pPr algn="ctr"/>
            <a:r>
              <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rPr>
              <a:t>研究概述</a:t>
            </a:r>
            <a:endPar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1" name="矩形 30"/>
          <p:cNvSpPr/>
          <p:nvPr/>
        </p:nvSpPr>
        <p:spPr>
          <a:xfrm>
            <a:off x="3397088" y="3559893"/>
            <a:ext cx="1542410" cy="369332"/>
          </a:xfrm>
          <a:prstGeom prst="rect">
            <a:avLst/>
          </a:prstGeom>
        </p:spPr>
        <p:txBody>
          <a:bodyPr wrap="none">
            <a:spAutoFit/>
          </a:bodyPr>
          <a:lstStyle/>
          <a:p>
            <a:pPr algn="ctr"/>
            <a:r>
              <a:rPr lang="en-US" altLang="zh-CN" i="1" dirty="0">
                <a:latin typeface="Century Gothic" panose="020B0502020202020204" pitchFamily="34" charset="0"/>
                <a:ea typeface="思源黑体 CN Normal" panose="020B0400000000000000" pitchFamily="34" charset="-122"/>
                <a:sym typeface="Century Gothic" panose="020B0502020202020204" pitchFamily="34" charset="0"/>
              </a:rPr>
              <a:t>Introduction</a:t>
            </a:r>
            <a:endParaRPr lang="zh-CN" altLang="en-US" i="1"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2" name="矩形 31"/>
          <p:cNvSpPr/>
          <p:nvPr/>
        </p:nvSpPr>
        <p:spPr>
          <a:xfrm>
            <a:off x="5894101" y="3264449"/>
            <a:ext cx="1300480" cy="462915"/>
          </a:xfrm>
          <a:prstGeom prst="rect">
            <a:avLst/>
          </a:prstGeom>
        </p:spPr>
        <p:txBody>
          <a:bodyPr wrap="none">
            <a:spAutoFit/>
          </a:bodyPr>
          <a:lstStyle/>
          <a:p>
            <a:pPr>
              <a:lnSpc>
                <a:spcPct val="110000"/>
              </a:lnSpc>
            </a:pPr>
            <a:r>
              <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rPr>
              <a:t>研究背景</a:t>
            </a:r>
            <a:endPar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3" name="矩形 32"/>
          <p:cNvSpPr/>
          <p:nvPr/>
        </p:nvSpPr>
        <p:spPr>
          <a:xfrm>
            <a:off x="7549302" y="3264449"/>
            <a:ext cx="1313180" cy="443519"/>
          </a:xfrm>
          <a:prstGeom prst="rect">
            <a:avLst/>
          </a:prstGeom>
        </p:spPr>
        <p:txBody>
          <a:bodyPr wrap="none">
            <a:spAutoFit/>
          </a:bodyPr>
          <a:lstStyle/>
          <a:p>
            <a:pPr algn="ctr">
              <a:lnSpc>
                <a:spcPct val="110000"/>
              </a:lnSpc>
            </a:pPr>
            <a:r>
              <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rPr>
              <a:t>工作内容</a:t>
            </a:r>
            <a:endPar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1000"/>
                                        <p:tgtEl>
                                          <p:spTgt spid="9"/>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30"/>
                                        </p:tgtEl>
                                        <p:attrNameLst>
                                          <p:attrName>style.visibility</p:attrName>
                                        </p:attrNameLst>
                                      </p:cBhvr>
                                      <p:to>
                                        <p:strVal val="visible"/>
                                      </p:to>
                                    </p:set>
                                    <p:anim calcmode="lin" valueType="num">
                                      <p:cBhvr additive="base">
                                        <p:cTn id="14" dur="500" fill="hold"/>
                                        <p:tgtEl>
                                          <p:spTgt spid="30"/>
                                        </p:tgtEl>
                                        <p:attrNameLst>
                                          <p:attrName>ppt_x</p:attrName>
                                        </p:attrNameLst>
                                      </p:cBhvr>
                                      <p:tavLst>
                                        <p:tav tm="0">
                                          <p:val>
                                            <p:strVal val="0-#ppt_w/2"/>
                                          </p:val>
                                        </p:tav>
                                        <p:tav tm="100000">
                                          <p:val>
                                            <p:strVal val="#ppt_x"/>
                                          </p:val>
                                        </p:tav>
                                      </p:tavLst>
                                    </p:anim>
                                    <p:anim calcmode="lin" valueType="num">
                                      <p:cBhvr additive="base">
                                        <p:cTn id="15" dur="500" fill="hold"/>
                                        <p:tgtEl>
                                          <p:spTgt spid="30"/>
                                        </p:tgtEl>
                                        <p:attrNameLst>
                                          <p:attrName>ppt_y</p:attrName>
                                        </p:attrNameLst>
                                      </p:cBhvr>
                                      <p:tavLst>
                                        <p:tav tm="0">
                                          <p:val>
                                            <p:strVal val="#ppt_y"/>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16" presetClass="entr" presetSubtype="26"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arn(inHorizontal)">
                                      <p:cBhvr>
                                        <p:cTn id="25" dur="500"/>
                                        <p:tgtEl>
                                          <p:spTgt spid="29"/>
                                        </p:tgtEl>
                                      </p:cBhvr>
                                    </p:animEffect>
                                  </p:childTnLst>
                                </p:cTn>
                              </p:par>
                            </p:childTnLst>
                          </p:cTn>
                        </p:par>
                        <p:par>
                          <p:cTn id="26" fill="hold">
                            <p:stCondLst>
                              <p:cond delay="3000"/>
                            </p:stCondLst>
                            <p:childTnLst>
                              <p:par>
                                <p:cTn id="27" presetID="2" presetClass="entr" presetSubtype="2"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1+#ppt_w/2"/>
                                          </p:val>
                                        </p:tav>
                                        <p:tav tm="100000">
                                          <p:val>
                                            <p:strVal val="#ppt_x"/>
                                          </p:val>
                                        </p:tav>
                                      </p:tavLst>
                                    </p:anim>
                                    <p:anim calcmode="lin" valueType="num">
                                      <p:cBhvr additive="base">
                                        <p:cTn id="30" dur="500" fill="hold"/>
                                        <p:tgtEl>
                                          <p:spTgt spid="32"/>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25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1+#ppt_w/2"/>
                                          </p:val>
                                        </p:tav>
                                        <p:tav tm="100000">
                                          <p:val>
                                            <p:strVal val="#ppt_x"/>
                                          </p:val>
                                        </p:tav>
                                      </p:tavLst>
                                    </p:anim>
                                    <p:anim calcmode="lin" valueType="num">
                                      <p:cBhvr additive="base">
                                        <p:cTn id="34"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0"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494275" y="1669175"/>
            <a:ext cx="6572886" cy="506730"/>
          </a:xfrm>
          <a:prstGeom prst="rect">
            <a:avLst/>
          </a:prstGeom>
          <a:noFill/>
        </p:spPr>
        <p:txBody>
          <a:bodyPr wrap="square" rtlCol="0">
            <a:spAutoFit/>
          </a:bodyPr>
          <a:lstStyle/>
          <a:p>
            <a:pPr>
              <a:lnSpc>
                <a:spcPct val="150000"/>
              </a:lnSpc>
            </a:pP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项目名称</a:t>
            </a:r>
            <a:r>
              <a:rPr lang="en-US" altLang="zh-CN"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   </a:t>
            </a: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基于知识图谱的离散数学</a:t>
            </a:r>
            <a:r>
              <a:rPr lang="en-US" altLang="zh-CN"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AI</a:t>
            </a: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问答和数据分析及</a:t>
            </a:r>
            <a:r>
              <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反馈</a:t>
            </a:r>
            <a:endParaRPr lang="zh-CN" altLang="en-US"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cxnSp>
        <p:nvCxnSpPr>
          <p:cNvPr id="72" name="直接连接符 71"/>
          <p:cNvCxnSpPr/>
          <p:nvPr/>
        </p:nvCxnSpPr>
        <p:spPr>
          <a:xfrm>
            <a:off x="494012" y="2277648"/>
            <a:ext cx="11160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263440" y="2379429"/>
            <a:ext cx="1733550" cy="704850"/>
          </a:xfrm>
          <a:prstGeom prst="rect">
            <a:avLst/>
          </a:prstGeom>
          <a:noFill/>
        </p:spPr>
        <p:txBody>
          <a:bodyPr wrap="none" rtlCol="0">
            <a:noAutofit/>
          </a:bodyPr>
          <a:lstStyle/>
          <a:p>
            <a:r>
              <a:rPr lang="zh-CN" altLang="en-US" sz="80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a:t>
            </a:r>
            <a:endParaRPr lang="zh-CN" altLang="en-US" sz="80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4" name="文本框 73"/>
          <p:cNvSpPr txBox="1"/>
          <p:nvPr/>
        </p:nvSpPr>
        <p:spPr>
          <a:xfrm>
            <a:off x="765895" y="2379647"/>
            <a:ext cx="10974818" cy="2168525"/>
          </a:xfrm>
          <a:prstGeom prst="rect">
            <a:avLst/>
          </a:prstGeom>
          <a:noFill/>
        </p:spPr>
        <p:txBody>
          <a:bodyPr wrap="square" rtlCol="0">
            <a:spAutoFit/>
          </a:bodyPr>
          <a:lstStyle/>
          <a:p>
            <a:pPr>
              <a:lnSpc>
                <a:spcPct val="150000"/>
              </a:lnSpc>
            </a:pPr>
            <a:r>
              <a:rPr lang="zh-CN" altLang="en-US"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本项目旨在基于知识图谱技术构建一个智能问答系统，提升超星学习通</a:t>
            </a:r>
            <a:r>
              <a:rPr lang="en-US" altLang="zh-CN"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AI</a:t>
            </a:r>
            <a:r>
              <a:rPr lang="zh-CN" altLang="en-US"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助教在离散数学领域的问答准确性。通过从学生和教师处收集常见的离散数学问题，扩充现有的问答库，并结合现有的知识图谱结构，使</a:t>
            </a:r>
            <a:r>
              <a:rPr lang="en-US" altLang="zh-CN"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AI</a:t>
            </a:r>
            <a:r>
              <a:rPr lang="zh-CN" altLang="en-US"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助教能够理解并准确回答学生的提问。系统设计包括知识图谱的进一步优化、</a:t>
            </a:r>
            <a:r>
              <a:rPr lang="en-US" altLang="zh-CN"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NLP</a:t>
            </a:r>
            <a:r>
              <a:rPr lang="zh-CN" altLang="en-US"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解析用户问题、问答库的集成及实时反馈收集。最终，项目将通过数据分析报告呈现系统运行中的常见问题和知识盲点，支持未来教学的改进方向，为学生提供更加智能化的学习辅助工具。</a:t>
            </a:r>
            <a:endParaRPr lang="zh-CN" altLang="en-US"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2" name="矩形 11"/>
          <p:cNvSpPr/>
          <p:nvPr/>
        </p:nvSpPr>
        <p:spPr>
          <a:xfrm>
            <a:off x="5191761" y="290117"/>
            <a:ext cx="1808480" cy="583565"/>
          </a:xfrm>
          <a:prstGeom prst="rect">
            <a:avLst/>
          </a:prstGeom>
        </p:spPr>
        <p:txBody>
          <a:bodyPr wrap="none">
            <a:spAutoFit/>
          </a:bodyPr>
          <a:lstStyle/>
          <a:p>
            <a:pPr algn="ctr"/>
            <a:r>
              <a:rPr lang="zh-CN" altLang="en-US" sz="3200" dirty="0"/>
              <a:t>项目</a:t>
            </a:r>
            <a:r>
              <a:rPr lang="zh-CN" altLang="en-US" sz="3200" dirty="0"/>
              <a:t>简介</a:t>
            </a:r>
            <a:endParaRPr lang="zh-CN" altLang="en-US" sz="3200" dirty="0"/>
          </a:p>
        </p:txBody>
      </p:sp>
      <p:cxnSp>
        <p:nvCxnSpPr>
          <p:cNvPr id="3" name="直接箭头连接符 2"/>
          <p:cNvCxnSpPr/>
          <p:nvPr>
            <p:custDataLst>
              <p:tags r:id="rId1"/>
            </p:custDataLst>
          </p:nvPr>
        </p:nvCxnSpPr>
        <p:spPr>
          <a:xfrm flipV="1">
            <a:off x="327953" y="5962611"/>
            <a:ext cx="11437034" cy="0"/>
          </a:xfrm>
          <a:prstGeom prst="straightConnector1">
            <a:avLst/>
          </a:prstGeom>
          <a:ln>
            <a:solidFill>
              <a:schemeClr val="bg1">
                <a:lumMod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 name="Oval 9"/>
          <p:cNvSpPr>
            <a:spLocks noChangeArrowheads="1"/>
          </p:cNvSpPr>
          <p:nvPr>
            <p:custDataLst>
              <p:tags r:id="rId2"/>
            </p:custDataLst>
          </p:nvPr>
        </p:nvSpPr>
        <p:spPr bwMode="auto">
          <a:xfrm>
            <a:off x="9446760" y="5341538"/>
            <a:ext cx="1242146" cy="1242146"/>
          </a:xfrm>
          <a:prstGeom prst="ellipse">
            <a:avLst/>
          </a:prstGeom>
          <a:solidFill>
            <a:schemeClr val="bg1"/>
          </a:solidFill>
          <a:ln w="9525">
            <a:solidFill>
              <a:schemeClr val="accent1"/>
            </a:solidFill>
            <a:round/>
          </a:ln>
          <a:effectLst/>
        </p:spPr>
        <p:txBody>
          <a:bodyPr wrap="square" anchor="ctr"/>
          <a:lstStyle/>
          <a:p>
            <a:pPr algn="ct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辅助学生</a:t>
            </a: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学习</a:t>
            </a:r>
            <a:endPar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 name="Line 54"/>
          <p:cNvSpPr>
            <a:spLocks noChangeShapeType="1"/>
          </p:cNvSpPr>
          <p:nvPr>
            <p:custDataLst>
              <p:tags r:id="rId3"/>
            </p:custDataLst>
          </p:nvPr>
        </p:nvSpPr>
        <p:spPr bwMode="auto">
          <a:xfrm flipV="1">
            <a:off x="10117520" y="4777719"/>
            <a:ext cx="0" cy="576000"/>
          </a:xfrm>
          <a:prstGeom prst="line">
            <a:avLst/>
          </a:prstGeom>
          <a:noFill/>
          <a:ln w="9525">
            <a:solidFill>
              <a:schemeClr val="tx1">
                <a:lumMod val="50000"/>
                <a:lumOff val="50000"/>
              </a:schemeClr>
            </a:solidFill>
            <a:prstDash val="dash"/>
            <a:round/>
            <a:tailEnd type="oval" w="lg" len="lg"/>
          </a:ln>
          <a:extLst>
            <a:ext uri="{909E8E84-426E-40DD-AFC4-6F175D3DCCD1}">
              <a14:hiddenFill xmlns:a14="http://schemas.microsoft.com/office/drawing/2010/main">
                <a:noFill/>
              </a14:hiddenFill>
            </a:ext>
          </a:extLst>
        </p:spPr>
        <p:txBody>
          <a:bodyPr/>
          <a:lstStyle/>
          <a:p>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 name="Oval 9"/>
          <p:cNvSpPr>
            <a:spLocks noChangeArrowheads="1"/>
          </p:cNvSpPr>
          <p:nvPr>
            <p:custDataLst>
              <p:tags r:id="rId4"/>
            </p:custDataLst>
          </p:nvPr>
        </p:nvSpPr>
        <p:spPr bwMode="auto">
          <a:xfrm>
            <a:off x="4051868" y="5353603"/>
            <a:ext cx="1242146" cy="1242146"/>
          </a:xfrm>
          <a:prstGeom prst="ellipse">
            <a:avLst/>
          </a:prstGeom>
          <a:solidFill>
            <a:schemeClr val="bg1"/>
          </a:solidFill>
          <a:ln w="9525">
            <a:solidFill>
              <a:schemeClr val="accent1"/>
            </a:solidFill>
            <a:round/>
          </a:ln>
          <a:effectLst/>
        </p:spPr>
        <p:txBody>
          <a:bodyPr wrap="square" anchor="ctr"/>
          <a:lstStyle/>
          <a:p>
            <a:pPr algn="ct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构建智能问答</a:t>
            </a: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系统</a:t>
            </a:r>
            <a:endPar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9" name="Line 54"/>
          <p:cNvSpPr>
            <a:spLocks noChangeShapeType="1"/>
          </p:cNvSpPr>
          <p:nvPr>
            <p:custDataLst>
              <p:tags r:id="rId5"/>
            </p:custDataLst>
          </p:nvPr>
        </p:nvSpPr>
        <p:spPr bwMode="auto">
          <a:xfrm flipV="1">
            <a:off x="7370578" y="4777719"/>
            <a:ext cx="0" cy="576000"/>
          </a:xfrm>
          <a:prstGeom prst="line">
            <a:avLst/>
          </a:prstGeom>
          <a:noFill/>
          <a:ln w="9525">
            <a:solidFill>
              <a:schemeClr val="tx1">
                <a:lumMod val="50000"/>
                <a:lumOff val="50000"/>
              </a:schemeClr>
            </a:solidFill>
            <a:prstDash val="dash"/>
            <a:round/>
            <a:tailEnd type="oval" w="lg" len="lg"/>
          </a:ln>
          <a:extLst>
            <a:ext uri="{909E8E84-426E-40DD-AFC4-6F175D3DCCD1}">
              <a14:hiddenFill xmlns:a14="http://schemas.microsoft.com/office/drawing/2010/main">
                <a:noFill/>
              </a14:hiddenFill>
            </a:ext>
          </a:extLst>
        </p:spPr>
        <p:txBody>
          <a:bodyPr/>
          <a:lstStyle/>
          <a:p>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 name="Line 54"/>
          <p:cNvSpPr>
            <a:spLocks noChangeShapeType="1"/>
          </p:cNvSpPr>
          <p:nvPr>
            <p:custDataLst>
              <p:tags r:id="rId6"/>
            </p:custDataLst>
          </p:nvPr>
        </p:nvSpPr>
        <p:spPr bwMode="auto">
          <a:xfrm flipV="1">
            <a:off x="4673167" y="4751049"/>
            <a:ext cx="0" cy="576000"/>
          </a:xfrm>
          <a:prstGeom prst="line">
            <a:avLst/>
          </a:prstGeom>
          <a:noFill/>
          <a:ln w="9525">
            <a:solidFill>
              <a:schemeClr val="tx1">
                <a:lumMod val="50000"/>
                <a:lumOff val="50000"/>
              </a:schemeClr>
            </a:solidFill>
            <a:prstDash val="dash"/>
            <a:round/>
            <a:tailEnd type="oval" w="lg" len="lg"/>
          </a:ln>
          <a:extLst>
            <a:ext uri="{909E8E84-426E-40DD-AFC4-6F175D3DCCD1}">
              <a14:hiddenFill xmlns:a14="http://schemas.microsoft.com/office/drawing/2010/main">
                <a:noFill/>
              </a14:hiddenFill>
            </a:ext>
          </a:extLst>
        </p:spPr>
        <p:txBody>
          <a:bodyPr/>
          <a:lstStyle/>
          <a:p>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4" name="Oval 9"/>
          <p:cNvSpPr>
            <a:spLocks noChangeArrowheads="1"/>
          </p:cNvSpPr>
          <p:nvPr>
            <p:custDataLst>
              <p:tags r:id="rId7"/>
            </p:custDataLst>
          </p:nvPr>
        </p:nvSpPr>
        <p:spPr bwMode="auto">
          <a:xfrm>
            <a:off x="1354526" y="5326933"/>
            <a:ext cx="1242146" cy="1242146"/>
          </a:xfrm>
          <a:prstGeom prst="ellipse">
            <a:avLst/>
          </a:prstGeom>
          <a:solidFill>
            <a:schemeClr val="bg1"/>
          </a:solidFill>
          <a:ln w="9525">
            <a:solidFill>
              <a:schemeClr val="accent1"/>
            </a:solidFill>
            <a:round/>
          </a:ln>
          <a:effectLst/>
        </p:spPr>
        <p:txBody>
          <a:bodyPr wrap="square" anchor="ctr"/>
          <a:lstStyle/>
          <a:p>
            <a:pPr algn="ct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扩充问答库，优化知识</a:t>
            </a: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图谱</a:t>
            </a:r>
            <a:endPar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5" name="Line 54"/>
          <p:cNvSpPr>
            <a:spLocks noChangeShapeType="1"/>
          </p:cNvSpPr>
          <p:nvPr>
            <p:custDataLst>
              <p:tags r:id="rId8"/>
            </p:custDataLst>
          </p:nvPr>
        </p:nvSpPr>
        <p:spPr bwMode="auto">
          <a:xfrm flipV="1">
            <a:off x="2025286" y="4777719"/>
            <a:ext cx="0" cy="576000"/>
          </a:xfrm>
          <a:prstGeom prst="line">
            <a:avLst/>
          </a:prstGeom>
          <a:noFill/>
          <a:ln w="9525">
            <a:solidFill>
              <a:schemeClr val="tx1">
                <a:lumMod val="50000"/>
                <a:lumOff val="50000"/>
              </a:schemeClr>
            </a:solidFill>
            <a:prstDash val="dash"/>
            <a:round/>
            <a:tailEnd type="oval" w="lg" len="lg"/>
          </a:ln>
          <a:extLst>
            <a:ext uri="{909E8E84-426E-40DD-AFC4-6F175D3DCCD1}">
              <a14:hiddenFill xmlns:a14="http://schemas.microsoft.com/office/drawing/2010/main">
                <a:noFill/>
              </a14:hiddenFill>
            </a:ext>
          </a:extLst>
        </p:spPr>
        <p:txBody>
          <a:bodyPr/>
          <a:lstStyle/>
          <a:p>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8" name="Oval 9"/>
          <p:cNvSpPr>
            <a:spLocks noChangeArrowheads="1"/>
          </p:cNvSpPr>
          <p:nvPr>
            <p:custDataLst>
              <p:tags r:id="rId9"/>
            </p:custDataLst>
          </p:nvPr>
        </p:nvSpPr>
        <p:spPr bwMode="auto">
          <a:xfrm>
            <a:off x="6749348" y="5341538"/>
            <a:ext cx="1242146" cy="1242146"/>
          </a:xfrm>
          <a:prstGeom prst="ellipse">
            <a:avLst/>
          </a:prstGeom>
          <a:solidFill>
            <a:schemeClr val="bg1"/>
          </a:solidFill>
          <a:ln w="9525">
            <a:solidFill>
              <a:schemeClr val="accent1"/>
            </a:solidFill>
            <a:round/>
          </a:ln>
          <a:effectLst/>
        </p:spPr>
        <p:txBody>
          <a:bodyPr wrap="square" anchor="ctr"/>
          <a:p>
            <a:pPr algn="ct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提升超星学习通</a:t>
            </a:r>
            <a:r>
              <a:rPr lang="en-US" altLang="zh-CN"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AI</a:t>
            </a: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助教</a:t>
            </a:r>
            <a:r>
              <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能力</a:t>
            </a:r>
            <a:endPar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par>
                          <p:cTn id="8" fill="hold">
                            <p:stCondLst>
                              <p:cond delay="1950"/>
                            </p:stCondLst>
                            <p:childTnLst>
                              <p:par>
                                <p:cTn id="9" presetID="22" presetClass="entr" presetSubtype="8" fill="hold"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left)">
                                      <p:cBhvr>
                                        <p:cTn id="11" dur="1000"/>
                                        <p:tgtEl>
                                          <p:spTgt spid="72"/>
                                        </p:tgtEl>
                                      </p:cBhvr>
                                    </p:animEffect>
                                  </p:childTnLst>
                                </p:cTn>
                              </p:par>
                            </p:childTnLst>
                          </p:cTn>
                        </p:par>
                        <p:par>
                          <p:cTn id="12" fill="hold">
                            <p:stCondLst>
                              <p:cond delay="2950"/>
                            </p:stCondLst>
                            <p:childTnLst>
                              <p:par>
                                <p:cTn id="13" presetID="10" presetClass="entr" presetSubtype="0" fill="hold" grpId="0"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fade">
                                      <p:cBhvr>
                                        <p:cTn id="15" dur="750"/>
                                        <p:tgtEl>
                                          <p:spTgt spid="73"/>
                                        </p:tgtEl>
                                      </p:cBhvr>
                                    </p:animEffect>
                                  </p:childTnLst>
                                </p:cTn>
                              </p:par>
                            </p:childTnLst>
                          </p:cTn>
                        </p:par>
                        <p:par>
                          <p:cTn id="16" fill="hold">
                            <p:stCondLst>
                              <p:cond delay="395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74"/>
                                        </p:tgtEl>
                                        <p:attrNameLst>
                                          <p:attrName>style.visibility</p:attrName>
                                        </p:attrNameLst>
                                      </p:cBhvr>
                                      <p:to>
                                        <p:strVal val="visible"/>
                                      </p:to>
                                    </p:set>
                                    <p:animEffect transition="in" filter="fade">
                                      <p:cBhvr>
                                        <p:cTn id="19" dur="500"/>
                                        <p:tgtEl>
                                          <p:spTgt spid="74"/>
                                        </p:tgtEl>
                                      </p:cBhvr>
                                    </p:animEffect>
                                  </p:childTnLst>
                                </p:cTn>
                              </p:par>
                            </p:childTnLst>
                          </p:cTn>
                        </p:par>
                        <p:par>
                          <p:cTn id="20" fill="hold">
                            <p:stCondLst>
                              <p:cond delay="14900"/>
                            </p:stCondLst>
                            <p:childTnLst>
                              <p:par>
                                <p:cTn id="21" presetID="22" presetClass="entr" presetSubtype="8"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1000"/>
                                        <p:tgtEl>
                                          <p:spTgt spid="3"/>
                                        </p:tgtEl>
                                      </p:cBhvr>
                                    </p:animEffect>
                                  </p:childTnLst>
                                </p:cTn>
                              </p:par>
                              <p:par>
                                <p:cTn id="24" presetID="53" presetClass="entr" presetSubtype="16" fill="hold" grpId="0" nodeType="withEffect">
                                  <p:stCondLst>
                                    <p:cond delay="200"/>
                                  </p:stCondLst>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animEffect transition="in" filter="fade">
                                      <p:cBhvr>
                                        <p:cTn id="28" dur="500"/>
                                        <p:tgtEl>
                                          <p:spTgt spid="14"/>
                                        </p:tgtEl>
                                      </p:cBhvr>
                                    </p:animEffect>
                                  </p:childTnLst>
                                </p:cTn>
                              </p:par>
                              <p:par>
                                <p:cTn id="29" presetID="22" presetClass="entr" presetSubtype="4" fill="hold" grpId="0" nodeType="withEffect">
                                  <p:stCondLst>
                                    <p:cond delay="30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500"/>
                                        <p:tgtEl>
                                          <p:spTgt spid="15"/>
                                        </p:tgtEl>
                                      </p:cBhvr>
                                    </p:animEffect>
                                  </p:childTnLst>
                                </p:cTn>
                              </p:par>
                              <p:par>
                                <p:cTn id="32" presetID="22" presetClass="entr" presetSubtype="4" fill="hold" grpId="0" nodeType="withEffect">
                                  <p:stCondLst>
                                    <p:cond delay="500"/>
                                  </p:stCondLst>
                                  <p:childTnLst>
                                    <p:set>
                                      <p:cBhvr>
                                        <p:cTn id="33" dur="1" fill="hold">
                                          <p:stCondLst>
                                            <p:cond delay="0"/>
                                          </p:stCondLst>
                                        </p:cTn>
                                        <p:tgtEl>
                                          <p:spTgt spid="2"/>
                                        </p:tgtEl>
                                        <p:attrNameLst>
                                          <p:attrName>style.visibility</p:attrName>
                                        </p:attrNameLst>
                                      </p:cBhvr>
                                      <p:to>
                                        <p:strVal val="visible"/>
                                      </p:to>
                                    </p:set>
                                    <p:animEffect transition="in" filter="wipe(down)">
                                      <p:cBhvr>
                                        <p:cTn id="34" dur="500"/>
                                        <p:tgtEl>
                                          <p:spTgt spid="2"/>
                                        </p:tgtEl>
                                      </p:cBhvr>
                                    </p:animEffect>
                                  </p:childTnLst>
                                </p:cTn>
                              </p:par>
                              <p:par>
                                <p:cTn id="35" presetID="53" presetClass="entr" presetSubtype="16" fill="hold" grpId="0" nodeType="withEffect">
                                  <p:stCondLst>
                                    <p:cond delay="60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par>
                                <p:cTn id="40" presetID="22" presetClass="entr" presetSubtype="4" fill="hold" grpId="0" nodeType="withEffect">
                                  <p:stCondLst>
                                    <p:cond delay="70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500"/>
                                        <p:tgtEl>
                                          <p:spTgt spid="9"/>
                                        </p:tgtEl>
                                      </p:cBhvr>
                                    </p:animEffect>
                                  </p:childTnLst>
                                </p:cTn>
                              </p:par>
                              <p:par>
                                <p:cTn id="43" presetID="53" presetClass="entr" presetSubtype="16" fill="hold" grpId="0" nodeType="withEffect">
                                  <p:stCondLst>
                                    <p:cond delay="800"/>
                                  </p:stCondLst>
                                  <p:childTnLst>
                                    <p:set>
                                      <p:cBhvr>
                                        <p:cTn id="44" dur="1" fill="hold">
                                          <p:stCondLst>
                                            <p:cond delay="0"/>
                                          </p:stCondLst>
                                        </p:cTn>
                                        <p:tgtEl>
                                          <p:spTgt spid="4"/>
                                        </p:tgtEl>
                                        <p:attrNameLst>
                                          <p:attrName>style.visibility</p:attrName>
                                        </p:attrNameLst>
                                      </p:cBhvr>
                                      <p:to>
                                        <p:strVal val="visible"/>
                                      </p:to>
                                    </p:set>
                                    <p:anim calcmode="lin" valueType="num">
                                      <p:cBhvr>
                                        <p:cTn id="45" dur="500" fill="hold"/>
                                        <p:tgtEl>
                                          <p:spTgt spid="4"/>
                                        </p:tgtEl>
                                        <p:attrNameLst>
                                          <p:attrName>ppt_w</p:attrName>
                                        </p:attrNameLst>
                                      </p:cBhvr>
                                      <p:tavLst>
                                        <p:tav tm="0">
                                          <p:val>
                                            <p:fltVal val="0"/>
                                          </p:val>
                                        </p:tav>
                                        <p:tav tm="100000">
                                          <p:val>
                                            <p:strVal val="#ppt_w"/>
                                          </p:val>
                                        </p:tav>
                                      </p:tavLst>
                                    </p:anim>
                                    <p:anim calcmode="lin" valueType="num">
                                      <p:cBhvr>
                                        <p:cTn id="46" dur="500" fill="hold"/>
                                        <p:tgtEl>
                                          <p:spTgt spid="4"/>
                                        </p:tgtEl>
                                        <p:attrNameLst>
                                          <p:attrName>ppt_h</p:attrName>
                                        </p:attrNameLst>
                                      </p:cBhvr>
                                      <p:tavLst>
                                        <p:tav tm="0">
                                          <p:val>
                                            <p:fltVal val="0"/>
                                          </p:val>
                                        </p:tav>
                                        <p:tav tm="100000">
                                          <p:val>
                                            <p:strVal val="#ppt_h"/>
                                          </p:val>
                                        </p:tav>
                                      </p:tavLst>
                                    </p:anim>
                                    <p:animEffect transition="in" filter="fade">
                                      <p:cBhvr>
                                        <p:cTn id="47" dur="500"/>
                                        <p:tgtEl>
                                          <p:spTgt spid="4"/>
                                        </p:tgtEl>
                                      </p:cBhvr>
                                    </p:animEffect>
                                  </p:childTnLst>
                                </p:cTn>
                              </p:par>
                              <p:par>
                                <p:cTn id="48" presetID="22" presetClass="entr" presetSubtype="4" fill="hold" grpId="0" nodeType="withEffect">
                                  <p:stCondLst>
                                    <p:cond delay="900"/>
                                  </p:stCondLst>
                                  <p:childTnLst>
                                    <p:set>
                                      <p:cBhvr>
                                        <p:cTn id="49" dur="1" fill="hold">
                                          <p:stCondLst>
                                            <p:cond delay="0"/>
                                          </p:stCondLst>
                                        </p:cTn>
                                        <p:tgtEl>
                                          <p:spTgt spid="5"/>
                                        </p:tgtEl>
                                        <p:attrNameLst>
                                          <p:attrName>style.visibility</p:attrName>
                                        </p:attrNameLst>
                                      </p:cBhvr>
                                      <p:to>
                                        <p:strVal val="visible"/>
                                      </p:to>
                                    </p:set>
                                    <p:animEffect transition="in" filter="wipe(down)">
                                      <p:cBhvr>
                                        <p:cTn id="50" dur="500"/>
                                        <p:tgtEl>
                                          <p:spTgt spid="5"/>
                                        </p:tgtEl>
                                      </p:cBhvr>
                                    </p:animEffect>
                                  </p:childTnLst>
                                </p:cTn>
                              </p:par>
                              <p:par>
                                <p:cTn id="51" presetID="53" presetClass="entr" presetSubtype="16" fill="hold" grpId="0" nodeType="withEffect">
                                  <p:stCondLst>
                                    <p:cond delay="600"/>
                                  </p:stCondLst>
                                  <p:childTnLst>
                                    <p:set>
                                      <p:cBhvr>
                                        <p:cTn id="52" dur="1" fill="hold">
                                          <p:stCondLst>
                                            <p:cond delay="0"/>
                                          </p:stCondLst>
                                        </p:cTn>
                                        <p:tgtEl>
                                          <p:spTgt spid="8"/>
                                        </p:tgtEl>
                                        <p:attrNameLst>
                                          <p:attrName>style.visibility</p:attrName>
                                        </p:attrNameLst>
                                      </p:cBhvr>
                                      <p:to>
                                        <p:strVal val="visible"/>
                                      </p:to>
                                    </p:set>
                                    <p:anim calcmode="lin" valueType="num">
                                      <p:cBhvr>
                                        <p:cTn id="53" dur="500" fill="hold"/>
                                        <p:tgtEl>
                                          <p:spTgt spid="8"/>
                                        </p:tgtEl>
                                        <p:attrNameLst>
                                          <p:attrName>ppt_w</p:attrName>
                                        </p:attrNameLst>
                                      </p:cBhvr>
                                      <p:tavLst>
                                        <p:tav tm="0">
                                          <p:val>
                                            <p:fltVal val="0"/>
                                          </p:val>
                                        </p:tav>
                                        <p:tav tm="100000">
                                          <p:val>
                                            <p:strVal val="#ppt_w"/>
                                          </p:val>
                                        </p:tav>
                                      </p:tavLst>
                                    </p:anim>
                                    <p:anim calcmode="lin" valueType="num">
                                      <p:cBhvr>
                                        <p:cTn id="54" dur="500" fill="hold"/>
                                        <p:tgtEl>
                                          <p:spTgt spid="8"/>
                                        </p:tgtEl>
                                        <p:attrNameLst>
                                          <p:attrName>ppt_h</p:attrName>
                                        </p:attrNameLst>
                                      </p:cBhvr>
                                      <p:tavLst>
                                        <p:tav tm="0">
                                          <p:val>
                                            <p:fltVal val="0"/>
                                          </p:val>
                                        </p:tav>
                                        <p:tav tm="100000">
                                          <p:val>
                                            <p:strVal val="#ppt_h"/>
                                          </p:val>
                                        </p:tav>
                                      </p:tavLst>
                                    </p:anim>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3" grpId="0"/>
      <p:bldP spid="74" grpId="0"/>
      <p:bldP spid="4" grpId="0" bldLvl="0" animBg="1"/>
      <p:bldP spid="5" grpId="0" bldLvl="0" animBg="1"/>
      <p:bldP spid="7" grpId="0" bldLvl="0" animBg="1"/>
      <p:bldP spid="9" grpId="0" bldLvl="0" animBg="1"/>
      <p:bldP spid="2" grpId="0" bldLvl="0" animBg="1"/>
      <p:bldP spid="14" grpId="0" bldLvl="0" animBg="1"/>
      <p:bldP spid="15" grpId="0" bldLvl="0" animBg="1"/>
      <p:bldP spid="8"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61535" y="-415636"/>
            <a:ext cx="11194026" cy="55279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9" name="矩形 8"/>
          <p:cNvSpPr/>
          <p:nvPr/>
        </p:nvSpPr>
        <p:spPr>
          <a:xfrm>
            <a:off x="-2140527" y="1849582"/>
            <a:ext cx="12115800" cy="58812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占位符 12"/>
          <p:cNvSpPr txBox="1"/>
          <p:nvPr/>
        </p:nvSpPr>
        <p:spPr>
          <a:xfrm>
            <a:off x="5893881" y="535680"/>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4" name="文本占位符 14"/>
          <p:cNvSpPr txBox="1"/>
          <p:nvPr/>
        </p:nvSpPr>
        <p:spPr>
          <a:xfrm>
            <a:off x="5893881" y="1040487"/>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5" name="文本占位符 15"/>
          <p:cNvSpPr txBox="1"/>
          <p:nvPr/>
        </p:nvSpPr>
        <p:spPr>
          <a:xfrm>
            <a:off x="7708392" y="535680"/>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6" name="文本占位符 16"/>
          <p:cNvSpPr txBox="1"/>
          <p:nvPr/>
        </p:nvSpPr>
        <p:spPr>
          <a:xfrm>
            <a:off x="7708392" y="1040487"/>
            <a:ext cx="1415772" cy="46166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7" name="文本占位符 17"/>
          <p:cNvSpPr txBox="1"/>
          <p:nvPr/>
        </p:nvSpPr>
        <p:spPr>
          <a:xfrm>
            <a:off x="3117688" y="549522"/>
            <a:ext cx="2310428" cy="584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90204" pitchFamily="34" charset="0"/>
              <a:buNone/>
            </a:pPr>
            <a:endParaRPr lang="zh-CN" altLang="en-US"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8" name="文本占位符 13"/>
          <p:cNvSpPr txBox="1"/>
          <p:nvPr/>
        </p:nvSpPr>
        <p:spPr>
          <a:xfrm>
            <a:off x="3117689" y="1080563"/>
            <a:ext cx="2310427" cy="381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Font typeface="Arial" panose="020B0604020202090204" pitchFamily="34" charset="0"/>
              <a:buNone/>
            </a:pPr>
            <a:endParaRPr lang="zh-CN" altLang="en-US" sz="1600" i="1"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cxnSp>
        <p:nvCxnSpPr>
          <p:cNvPr id="29" name="直接连接符 28"/>
          <p:cNvCxnSpPr/>
          <p:nvPr/>
        </p:nvCxnSpPr>
        <p:spPr>
          <a:xfrm flipV="1">
            <a:off x="5473266" y="3082125"/>
            <a:ext cx="0" cy="82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365654" y="3063025"/>
            <a:ext cx="1605280" cy="521970"/>
          </a:xfrm>
          <a:prstGeom prst="rect">
            <a:avLst/>
          </a:prstGeom>
          <a:noFill/>
        </p:spPr>
        <p:txBody>
          <a:bodyPr wrap="none" rtlCol="0">
            <a:spAutoFit/>
          </a:bodyPr>
          <a:lstStyle/>
          <a:p>
            <a:pPr algn="ctr"/>
            <a:r>
              <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rPr>
              <a:t>本周</a:t>
            </a:r>
            <a:r>
              <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rPr>
              <a:t>工作</a:t>
            </a:r>
            <a:endPar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1" name="矩形 30"/>
          <p:cNvSpPr/>
          <p:nvPr/>
        </p:nvSpPr>
        <p:spPr>
          <a:xfrm>
            <a:off x="3284878" y="3559893"/>
            <a:ext cx="1766830" cy="369332"/>
          </a:xfrm>
          <a:prstGeom prst="rect">
            <a:avLst/>
          </a:prstGeom>
        </p:spPr>
        <p:txBody>
          <a:bodyPr wrap="none">
            <a:spAutoFit/>
          </a:bodyPr>
          <a:lstStyle/>
          <a:p>
            <a:pPr algn="ctr"/>
            <a:r>
              <a:rPr lang="en-US" altLang="zh-CN" dirty="0" smtClean="0">
                <a:latin typeface="Century Gothic" panose="020B0502020202020204" pitchFamily="34" charset="0"/>
                <a:ea typeface="思源黑体 CN Normal" panose="020B0400000000000000" pitchFamily="34" charset="-122"/>
                <a:sym typeface="Century Gothic" panose="020B0502020202020204" pitchFamily="34" charset="0"/>
              </a:rPr>
              <a:t>Achievement</a:t>
            </a: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2" name="矩形 31"/>
          <p:cNvSpPr/>
          <p:nvPr/>
        </p:nvSpPr>
        <p:spPr>
          <a:xfrm>
            <a:off x="5894736" y="3280324"/>
            <a:ext cx="1313180" cy="430887"/>
          </a:xfrm>
          <a:prstGeom prst="rect">
            <a:avLst/>
          </a:prstGeom>
        </p:spPr>
        <p:txBody>
          <a:bodyPr wrap="none">
            <a:spAutoFit/>
          </a:bodyPr>
          <a:lstStyle/>
          <a:p>
            <a:pPr algn="ctr"/>
            <a:r>
              <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rPr>
              <a:t>目标计划</a:t>
            </a:r>
            <a:endPar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4" name="矩形 33"/>
          <p:cNvSpPr/>
          <p:nvPr/>
        </p:nvSpPr>
        <p:spPr>
          <a:xfrm>
            <a:off x="7629556" y="3280472"/>
            <a:ext cx="1313180" cy="430887"/>
          </a:xfrm>
          <a:prstGeom prst="rect">
            <a:avLst/>
          </a:prstGeom>
        </p:spPr>
        <p:txBody>
          <a:bodyPr wrap="none">
            <a:spAutoFit/>
          </a:bodyPr>
          <a:lstStyle/>
          <a:p>
            <a:pPr algn="ctr"/>
            <a:r>
              <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rPr>
              <a:t>完成情况</a:t>
            </a:r>
            <a:endParaRPr lang="zh-CN" altLang="en-US" sz="2200"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9" name="文本占位符 14"/>
          <p:cNvSpPr txBox="1"/>
          <p:nvPr/>
        </p:nvSpPr>
        <p:spPr>
          <a:xfrm>
            <a:off x="5893881" y="2181617"/>
            <a:ext cx="1415772" cy="46166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0" name="文本占位符 15"/>
          <p:cNvSpPr txBox="1"/>
          <p:nvPr/>
        </p:nvSpPr>
        <p:spPr>
          <a:xfrm>
            <a:off x="7708392" y="1690652"/>
            <a:ext cx="1415772" cy="46166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1" name="文本占位符 16"/>
          <p:cNvSpPr txBox="1"/>
          <p:nvPr/>
        </p:nvSpPr>
        <p:spPr>
          <a:xfrm>
            <a:off x="7708392" y="2195462"/>
            <a:ext cx="1415772" cy="461665"/>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ctr">
              <a:buFont typeface="Arial" panose="020B0604020202090204" pitchFamily="34" charset="0"/>
              <a:buNone/>
            </a:pPr>
            <a:endParaRPr lang="zh-CN" altLang="en-US" dirty="0">
              <a:latin typeface="Century Gothic" panose="020B0502020202020204" pitchFamily="34" charset="0"/>
              <a:ea typeface="思源黑体 CN Normal" panose="020B0400000000000000" pitchFamily="34" charset="-122"/>
              <a:sym typeface="Century Gothic" panose="020B0502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1000"/>
                                        <p:tgtEl>
                                          <p:spTgt spid="9"/>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30"/>
                                        </p:tgtEl>
                                        <p:attrNameLst>
                                          <p:attrName>style.visibility</p:attrName>
                                        </p:attrNameLst>
                                      </p:cBhvr>
                                      <p:to>
                                        <p:strVal val="visible"/>
                                      </p:to>
                                    </p:set>
                                    <p:anim calcmode="lin" valueType="num">
                                      <p:cBhvr additive="base">
                                        <p:cTn id="14" dur="500" fill="hold"/>
                                        <p:tgtEl>
                                          <p:spTgt spid="30"/>
                                        </p:tgtEl>
                                        <p:attrNameLst>
                                          <p:attrName>ppt_x</p:attrName>
                                        </p:attrNameLst>
                                      </p:cBhvr>
                                      <p:tavLst>
                                        <p:tav tm="0">
                                          <p:val>
                                            <p:strVal val="0-#ppt_w/2"/>
                                          </p:val>
                                        </p:tav>
                                        <p:tav tm="100000">
                                          <p:val>
                                            <p:strVal val="#ppt_x"/>
                                          </p:val>
                                        </p:tav>
                                      </p:tavLst>
                                    </p:anim>
                                    <p:anim calcmode="lin" valueType="num">
                                      <p:cBhvr additive="base">
                                        <p:cTn id="15" dur="500" fill="hold"/>
                                        <p:tgtEl>
                                          <p:spTgt spid="30"/>
                                        </p:tgtEl>
                                        <p:attrNameLst>
                                          <p:attrName>ppt_y</p:attrName>
                                        </p:attrNameLst>
                                      </p:cBhvr>
                                      <p:tavLst>
                                        <p:tav tm="0">
                                          <p:val>
                                            <p:strVal val="#ppt_y"/>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16" presetClass="entr" presetSubtype="26"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arn(inHorizontal)">
                                      <p:cBhvr>
                                        <p:cTn id="25" dur="500"/>
                                        <p:tgtEl>
                                          <p:spTgt spid="29"/>
                                        </p:tgtEl>
                                      </p:cBhvr>
                                    </p:animEffect>
                                  </p:childTnLst>
                                </p:cTn>
                              </p:par>
                            </p:childTnLst>
                          </p:cTn>
                        </p:par>
                        <p:par>
                          <p:cTn id="26" fill="hold">
                            <p:stCondLst>
                              <p:cond delay="3000"/>
                            </p:stCondLst>
                            <p:childTnLst>
                              <p:par>
                                <p:cTn id="27" presetID="2" presetClass="entr" presetSubtype="2" fill="hold" grpId="0" nodeType="after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1+#ppt_w/2"/>
                                          </p:val>
                                        </p:tav>
                                        <p:tav tm="100000">
                                          <p:val>
                                            <p:strVal val="#ppt_x"/>
                                          </p:val>
                                        </p:tav>
                                      </p:tavLst>
                                    </p:anim>
                                    <p:anim calcmode="lin" valueType="num">
                                      <p:cBhvr additive="base">
                                        <p:cTn id="30" dur="500" fill="hold"/>
                                        <p:tgtEl>
                                          <p:spTgt spid="32"/>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500"/>
                                  </p:stCondLst>
                                  <p:childTnLst>
                                    <p:set>
                                      <p:cBhvr>
                                        <p:cTn id="32" dur="1" fill="hold">
                                          <p:stCondLst>
                                            <p:cond delay="0"/>
                                          </p:stCondLst>
                                        </p:cTn>
                                        <p:tgtEl>
                                          <p:spTgt spid="34"/>
                                        </p:tgtEl>
                                        <p:attrNameLst>
                                          <p:attrName>style.visibility</p:attrName>
                                        </p:attrNameLst>
                                      </p:cBhvr>
                                      <p:to>
                                        <p:strVal val="visible"/>
                                      </p:to>
                                    </p:set>
                                    <p:anim calcmode="lin" valueType="num">
                                      <p:cBhvr additive="base">
                                        <p:cTn id="33" dur="500" fill="hold"/>
                                        <p:tgtEl>
                                          <p:spTgt spid="34"/>
                                        </p:tgtEl>
                                        <p:attrNameLst>
                                          <p:attrName>ppt_x</p:attrName>
                                        </p:attrNameLst>
                                      </p:cBhvr>
                                      <p:tavLst>
                                        <p:tav tm="0">
                                          <p:val>
                                            <p:strVal val="1+#ppt_w/2"/>
                                          </p:val>
                                        </p:tav>
                                        <p:tav tm="100000">
                                          <p:val>
                                            <p:strVal val="#ppt_x"/>
                                          </p:val>
                                        </p:tav>
                                      </p:tavLst>
                                    </p:anim>
                                    <p:anim calcmode="lin" valueType="num">
                                      <p:cBhvr additive="base">
                                        <p:cTn id="34"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0" grpId="0"/>
      <p:bldP spid="31" grpId="0"/>
      <p:bldP spid="32"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65"/>
          <p:cNvGrpSpPr/>
          <p:nvPr/>
        </p:nvGrpSpPr>
        <p:grpSpPr>
          <a:xfrm>
            <a:off x="7828048" y="4378758"/>
            <a:ext cx="3546640" cy="2043581"/>
            <a:chOff x="6192365" y="2739619"/>
            <a:chExt cx="4825988" cy="2780744"/>
          </a:xfrm>
          <a:noFill/>
        </p:grpSpPr>
        <p:sp>
          <p:nvSpPr>
            <p:cNvPr id="68" name="矩形 67"/>
            <p:cNvSpPr/>
            <p:nvPr/>
          </p:nvSpPr>
          <p:spPr>
            <a:xfrm>
              <a:off x="6754100" y="2932765"/>
              <a:ext cx="3734172" cy="218899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9" name="矩形 68"/>
            <p:cNvSpPr/>
            <p:nvPr/>
          </p:nvSpPr>
          <p:spPr>
            <a:xfrm>
              <a:off x="6192365" y="5325456"/>
              <a:ext cx="4825988" cy="144515"/>
            </a:xfrm>
            <a:prstGeom prst="rect">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0" name="梯形 69"/>
            <p:cNvSpPr/>
            <p:nvPr/>
          </p:nvSpPr>
          <p:spPr>
            <a:xfrm rot="10800000">
              <a:off x="6212063" y="5452763"/>
              <a:ext cx="4806289" cy="67600"/>
            </a:xfrm>
            <a:prstGeom prst="trapezoid">
              <a:avLst>
                <a:gd name="adj" fmla="val 157728"/>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1" name="单圆角矩形 70"/>
            <p:cNvSpPr/>
            <p:nvPr/>
          </p:nvSpPr>
          <p:spPr>
            <a:xfrm>
              <a:off x="8100226" y="5330383"/>
              <a:ext cx="1044067" cy="67600"/>
            </a:xfrm>
            <a:prstGeom prst="round1Rect">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7" name="圆角矩形 66"/>
            <p:cNvSpPr/>
            <p:nvPr/>
          </p:nvSpPr>
          <p:spPr>
            <a:xfrm>
              <a:off x="6560954" y="2739619"/>
              <a:ext cx="4099004" cy="2599770"/>
            </a:xfrm>
            <a:prstGeom prst="roundRect">
              <a:avLst>
                <a:gd name="adj" fmla="val 5467"/>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grpSp>
        <p:nvGrpSpPr>
          <p:cNvPr id="43" name="组合 42"/>
          <p:cNvGrpSpPr/>
          <p:nvPr/>
        </p:nvGrpSpPr>
        <p:grpSpPr>
          <a:xfrm>
            <a:off x="2361244" y="3572859"/>
            <a:ext cx="1989348" cy="2812447"/>
            <a:chOff x="3836179" y="1605097"/>
            <a:chExt cx="2427515" cy="3431907"/>
          </a:xfrm>
          <a:noFill/>
        </p:grpSpPr>
        <p:sp>
          <p:nvSpPr>
            <p:cNvPr id="44" name="圆角矩形 43"/>
            <p:cNvSpPr/>
            <p:nvPr/>
          </p:nvSpPr>
          <p:spPr>
            <a:xfrm>
              <a:off x="3836179" y="1605097"/>
              <a:ext cx="2427515" cy="3431907"/>
            </a:xfrm>
            <a:prstGeom prst="roundRect">
              <a:avLst>
                <a:gd name="adj" fmla="val 7292"/>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45" name="矩形 44"/>
            <p:cNvSpPr/>
            <p:nvPr/>
          </p:nvSpPr>
          <p:spPr>
            <a:xfrm>
              <a:off x="3977694" y="1899011"/>
              <a:ext cx="2144486" cy="2861352"/>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46" name="椭圆 45"/>
            <p:cNvSpPr/>
            <p:nvPr/>
          </p:nvSpPr>
          <p:spPr>
            <a:xfrm>
              <a:off x="5017373" y="1735722"/>
              <a:ext cx="65315" cy="65315"/>
            </a:xfrm>
            <a:prstGeom prst="ellipse">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nvGrpSpPr>
            <p:cNvPr id="47" name="组合 46"/>
            <p:cNvGrpSpPr/>
            <p:nvPr/>
          </p:nvGrpSpPr>
          <p:grpSpPr>
            <a:xfrm>
              <a:off x="4971745" y="4822650"/>
              <a:ext cx="180000" cy="180000"/>
              <a:chOff x="8084634" y="869795"/>
              <a:chExt cx="1089631" cy="1089631"/>
            </a:xfrm>
            <a:grpFill/>
          </p:grpSpPr>
          <p:sp>
            <p:nvSpPr>
              <p:cNvPr id="48" name="椭圆 47"/>
              <p:cNvSpPr/>
              <p:nvPr/>
            </p:nvSpPr>
            <p:spPr>
              <a:xfrm>
                <a:off x="8084634" y="869795"/>
                <a:ext cx="1089631" cy="1089631"/>
              </a:xfrm>
              <a:prstGeom prst="ellipse">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49" name="圆角矩形 48"/>
              <p:cNvSpPr/>
              <p:nvPr/>
            </p:nvSpPr>
            <p:spPr>
              <a:xfrm>
                <a:off x="8389413" y="1174574"/>
                <a:ext cx="480072" cy="480072"/>
              </a:xfrm>
              <a:prstGeom prst="roundRect">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grpSp>
      <p:sp>
        <p:nvSpPr>
          <p:cNvPr id="50" name="矩形 49"/>
          <p:cNvSpPr/>
          <p:nvPr/>
        </p:nvSpPr>
        <p:spPr>
          <a:xfrm>
            <a:off x="5376000" y="2835056"/>
            <a:ext cx="1440000" cy="475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nvGrpSpPr>
          <p:cNvPr id="51" name="组合 50"/>
          <p:cNvGrpSpPr/>
          <p:nvPr/>
        </p:nvGrpSpPr>
        <p:grpSpPr>
          <a:xfrm>
            <a:off x="936295" y="3993968"/>
            <a:ext cx="1279384" cy="2428371"/>
            <a:chOff x="775024" y="1382485"/>
            <a:chExt cx="2414489" cy="4723639"/>
          </a:xfrm>
          <a:noFill/>
        </p:grpSpPr>
        <p:sp>
          <p:nvSpPr>
            <p:cNvPr id="52" name="圆角矩形 51"/>
            <p:cNvSpPr/>
            <p:nvPr/>
          </p:nvSpPr>
          <p:spPr>
            <a:xfrm>
              <a:off x="775024" y="1382485"/>
              <a:ext cx="2414489" cy="4723639"/>
            </a:xfrm>
            <a:prstGeom prst="roundRect">
              <a:avLst>
                <a:gd name="adj" fmla="val 7107"/>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3" name="圆角矩形 52"/>
            <p:cNvSpPr/>
            <p:nvPr/>
          </p:nvSpPr>
          <p:spPr>
            <a:xfrm>
              <a:off x="894655" y="1862863"/>
              <a:ext cx="2175227" cy="3556686"/>
            </a:xfrm>
            <a:prstGeom prst="roundRect">
              <a:avLst>
                <a:gd name="adj" fmla="val 0"/>
              </a:avLst>
            </a:prstGeom>
            <a:grpFill/>
            <a:ln w="6350">
              <a:solidFill>
                <a:schemeClr val="bg1">
                  <a:lumMod val="50000"/>
                </a:schemeClr>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nvGrpSpPr>
            <p:cNvPr id="54" name="组合 53"/>
            <p:cNvGrpSpPr/>
            <p:nvPr/>
          </p:nvGrpSpPr>
          <p:grpSpPr>
            <a:xfrm>
              <a:off x="1607864" y="1613806"/>
              <a:ext cx="748808" cy="69963"/>
              <a:chOff x="2125288" y="1443618"/>
              <a:chExt cx="822628" cy="76860"/>
            </a:xfrm>
            <a:grpFill/>
          </p:grpSpPr>
          <p:sp>
            <p:nvSpPr>
              <p:cNvPr id="58" name="圆角矩形 57"/>
              <p:cNvSpPr/>
              <p:nvPr/>
            </p:nvSpPr>
            <p:spPr>
              <a:xfrm>
                <a:off x="2265528" y="1443618"/>
                <a:ext cx="682388" cy="76860"/>
              </a:xfrm>
              <a:prstGeom prst="roundRect">
                <a:avLst>
                  <a:gd name="adj" fmla="val 33220"/>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9" name="椭圆 58"/>
              <p:cNvSpPr/>
              <p:nvPr/>
            </p:nvSpPr>
            <p:spPr>
              <a:xfrm>
                <a:off x="2125288" y="1448478"/>
                <a:ext cx="72000" cy="72000"/>
              </a:xfrm>
              <a:prstGeom prst="ellipse">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grpSp>
          <p:nvGrpSpPr>
            <p:cNvPr id="55" name="组合 54"/>
            <p:cNvGrpSpPr/>
            <p:nvPr/>
          </p:nvGrpSpPr>
          <p:grpSpPr>
            <a:xfrm>
              <a:off x="1783499" y="5598643"/>
              <a:ext cx="397539" cy="397539"/>
              <a:chOff x="2388357" y="5843685"/>
              <a:chExt cx="436730" cy="436730"/>
            </a:xfrm>
            <a:grpFill/>
          </p:grpSpPr>
          <p:sp>
            <p:nvSpPr>
              <p:cNvPr id="56" name="椭圆 55"/>
              <p:cNvSpPr/>
              <p:nvPr/>
            </p:nvSpPr>
            <p:spPr>
              <a:xfrm>
                <a:off x="2388357" y="5843685"/>
                <a:ext cx="436730" cy="436730"/>
              </a:xfrm>
              <a:prstGeom prst="ellipse">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57" name="圆角矩形 56"/>
              <p:cNvSpPr/>
              <p:nvPr/>
            </p:nvSpPr>
            <p:spPr>
              <a:xfrm>
                <a:off x="2495834" y="5951162"/>
                <a:ext cx="221776" cy="221776"/>
              </a:xfrm>
              <a:prstGeom prst="roundRect">
                <a:avLst/>
              </a:prstGeom>
              <a:grp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grpSp>
      <p:grpSp>
        <p:nvGrpSpPr>
          <p:cNvPr id="60" name="组合 59"/>
          <p:cNvGrpSpPr/>
          <p:nvPr/>
        </p:nvGrpSpPr>
        <p:grpSpPr>
          <a:xfrm>
            <a:off x="4100139" y="3022412"/>
            <a:ext cx="4240530" cy="3498202"/>
            <a:chOff x="4694499" y="2732398"/>
            <a:chExt cx="4240530" cy="3498202"/>
          </a:xfrm>
        </p:grpSpPr>
        <p:sp>
          <p:nvSpPr>
            <p:cNvPr id="62" name="矩形 61"/>
            <p:cNvSpPr/>
            <p:nvPr/>
          </p:nvSpPr>
          <p:spPr>
            <a:xfrm>
              <a:off x="4825944" y="2858128"/>
              <a:ext cx="3977640" cy="246888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cxnSp>
          <p:nvCxnSpPr>
            <p:cNvPr id="63" name="直接连接符 62"/>
            <p:cNvCxnSpPr/>
            <p:nvPr/>
          </p:nvCxnSpPr>
          <p:spPr>
            <a:xfrm>
              <a:off x="4694499" y="5464168"/>
              <a:ext cx="424053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a:off x="6703322" y="5495601"/>
              <a:ext cx="222885" cy="222885"/>
            </a:xfrm>
            <a:prstGeom prst="ellipse">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5" name="任意多边形 64"/>
            <p:cNvSpPr/>
            <p:nvPr/>
          </p:nvSpPr>
          <p:spPr>
            <a:xfrm>
              <a:off x="6311915" y="5769154"/>
              <a:ext cx="1005697" cy="461446"/>
            </a:xfrm>
            <a:custGeom>
              <a:avLst/>
              <a:gdLst>
                <a:gd name="connsiteX0" fmla="*/ 683904 w 2268013"/>
                <a:gd name="connsiteY0" fmla="*/ 0 h 1483535"/>
                <a:gd name="connsiteX1" fmla="*/ 1609722 w 2268013"/>
                <a:gd name="connsiteY1" fmla="*/ 0 h 1483535"/>
                <a:gd name="connsiteX2" fmla="*/ 1595336 w 2268013"/>
                <a:gd name="connsiteY2" fmla="*/ 123571 h 1483535"/>
                <a:gd name="connsiteX3" fmla="*/ 1738663 w 2268013"/>
                <a:gd name="connsiteY3" fmla="*/ 824615 h 1483535"/>
                <a:gd name="connsiteX4" fmla="*/ 2246733 w 2268013"/>
                <a:gd name="connsiteY4" fmla="*/ 1469625 h 1483535"/>
                <a:gd name="connsiteX5" fmla="*/ 2268013 w 2268013"/>
                <a:gd name="connsiteY5" fmla="*/ 1483535 h 1483535"/>
                <a:gd name="connsiteX6" fmla="*/ 0 w 2268013"/>
                <a:gd name="connsiteY6" fmla="*/ 1483535 h 1483535"/>
                <a:gd name="connsiteX7" fmla="*/ 2060 w 2268013"/>
                <a:gd name="connsiteY7" fmla="*/ 1475297 h 1483535"/>
                <a:gd name="connsiteX8" fmla="*/ 44336 w 2268013"/>
                <a:gd name="connsiteY8" fmla="*/ 1447662 h 1483535"/>
                <a:gd name="connsiteX9" fmla="*/ 552406 w 2268013"/>
                <a:gd name="connsiteY9" fmla="*/ 802652 h 1483535"/>
                <a:gd name="connsiteX10" fmla="*/ 695733 w 2268013"/>
                <a:gd name="connsiteY10" fmla="*/ 101608 h 148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68013" h="1483535">
                  <a:moveTo>
                    <a:pt x="683904" y="0"/>
                  </a:moveTo>
                  <a:lnTo>
                    <a:pt x="1609722" y="0"/>
                  </a:lnTo>
                  <a:lnTo>
                    <a:pt x="1595336" y="123571"/>
                  </a:lnTo>
                  <a:cubicBezTo>
                    <a:pt x="1588028" y="345011"/>
                    <a:pt x="1633930" y="587768"/>
                    <a:pt x="1738663" y="824615"/>
                  </a:cubicBezTo>
                  <a:cubicBezTo>
                    <a:pt x="1860851" y="1100937"/>
                    <a:pt x="2042870" y="1323437"/>
                    <a:pt x="2246733" y="1469625"/>
                  </a:cubicBezTo>
                  <a:lnTo>
                    <a:pt x="2268013" y="1483535"/>
                  </a:lnTo>
                  <a:lnTo>
                    <a:pt x="0" y="1483535"/>
                  </a:lnTo>
                  <a:lnTo>
                    <a:pt x="2060" y="1475297"/>
                  </a:lnTo>
                  <a:lnTo>
                    <a:pt x="44336" y="1447662"/>
                  </a:lnTo>
                  <a:cubicBezTo>
                    <a:pt x="248199" y="1301474"/>
                    <a:pt x="430218" y="1078974"/>
                    <a:pt x="552406" y="802652"/>
                  </a:cubicBezTo>
                  <a:cubicBezTo>
                    <a:pt x="657139" y="565805"/>
                    <a:pt x="703041" y="323048"/>
                    <a:pt x="695733" y="101608"/>
                  </a:cubicBezTo>
                  <a:close/>
                </a:path>
              </a:pathLst>
            </a:cu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61" name="圆角矩形 60"/>
            <p:cNvSpPr/>
            <p:nvPr/>
          </p:nvSpPr>
          <p:spPr>
            <a:xfrm>
              <a:off x="4694499" y="2732398"/>
              <a:ext cx="4240530" cy="3028950"/>
            </a:xfrm>
            <a:prstGeom prst="roundRect">
              <a:avLst>
                <a:gd name="adj" fmla="val 366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grpSp>
      <p:sp>
        <p:nvSpPr>
          <p:cNvPr id="72" name="文本框 71"/>
          <p:cNvSpPr txBox="1"/>
          <p:nvPr/>
        </p:nvSpPr>
        <p:spPr>
          <a:xfrm>
            <a:off x="5138251" y="4534530"/>
            <a:ext cx="2348720" cy="523220"/>
          </a:xfrm>
          <a:prstGeom prst="rect">
            <a:avLst/>
          </a:prstGeom>
          <a:noFill/>
        </p:spPr>
        <p:txBody>
          <a:bodyPr wrap="none" rtlCol="0">
            <a:spAutoFit/>
          </a:bodyPr>
          <a:lstStyle/>
          <a:p>
            <a:r>
              <a:rPr lang="en-US" altLang="zh-CN" sz="28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$123,456,789</a:t>
            </a:r>
            <a:endParaRPr lang="zh-CN" altLang="en-US" sz="2800"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3" name="文本框 72"/>
          <p:cNvSpPr txBox="1"/>
          <p:nvPr/>
        </p:nvSpPr>
        <p:spPr>
          <a:xfrm>
            <a:off x="5770794" y="3556718"/>
            <a:ext cx="989373" cy="769441"/>
          </a:xfrm>
          <a:prstGeom prst="rect">
            <a:avLst/>
          </a:prstGeom>
          <a:noFill/>
        </p:spPr>
        <p:txBody>
          <a:bodyPr wrap="none" rtlCol="0">
            <a:spAutoFit/>
          </a:bodyPr>
          <a:lstStyle/>
          <a:p>
            <a:r>
              <a:rPr lang="en-US" altLang="zh-CN" sz="4400"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90</a:t>
            </a:r>
            <a:r>
              <a:rPr lang="en-US" altLang="zh-CN" dirty="0" smtClean="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rPr>
              <a:t>%</a:t>
            </a:r>
            <a:endParaRPr lang="zh-CN" altLang="en-US" dirty="0">
              <a:solidFill>
                <a:schemeClr val="accent1"/>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4" name="文本框 73"/>
          <p:cNvSpPr txBox="1"/>
          <p:nvPr/>
        </p:nvSpPr>
        <p:spPr>
          <a:xfrm>
            <a:off x="2844684" y="4533932"/>
            <a:ext cx="910827" cy="707886"/>
          </a:xfrm>
          <a:prstGeom prst="rect">
            <a:avLst/>
          </a:prstGeom>
          <a:noFill/>
        </p:spPr>
        <p:txBody>
          <a:bodyPr wrap="none" rtlCol="0">
            <a:spAutoFit/>
          </a:bodyPr>
          <a:lstStyle/>
          <a:p>
            <a:r>
              <a:rPr lang="en-US" altLang="zh-CN" sz="40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80</a:t>
            </a:r>
            <a:r>
              <a:rPr lang="en-US" altLang="zh-CN" sz="16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a:t>
            </a:r>
            <a:endParaRPr lang="zh-CN" altLang="en-US" sz="16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5" name="文本框 74"/>
          <p:cNvSpPr txBox="1"/>
          <p:nvPr/>
        </p:nvSpPr>
        <p:spPr>
          <a:xfrm>
            <a:off x="1147233" y="4827838"/>
            <a:ext cx="837089" cy="646331"/>
          </a:xfrm>
          <a:prstGeom prst="rect">
            <a:avLst/>
          </a:prstGeom>
          <a:noFill/>
        </p:spPr>
        <p:txBody>
          <a:bodyPr wrap="none" rtlCol="0">
            <a:spAutoFit/>
          </a:bodyPr>
          <a:lstStyle/>
          <a:p>
            <a:r>
              <a:rPr lang="en-US" altLang="zh-CN" sz="36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60</a:t>
            </a:r>
            <a:r>
              <a:rPr lang="en-US" altLang="zh-CN" sz="14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a:t>
            </a:r>
            <a:endPar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6" name="文本框 75"/>
          <p:cNvSpPr txBox="1"/>
          <p:nvPr/>
        </p:nvSpPr>
        <p:spPr>
          <a:xfrm>
            <a:off x="9230144" y="4842178"/>
            <a:ext cx="910827" cy="707886"/>
          </a:xfrm>
          <a:prstGeom prst="rect">
            <a:avLst/>
          </a:prstGeom>
          <a:noFill/>
        </p:spPr>
        <p:txBody>
          <a:bodyPr wrap="none" rtlCol="0">
            <a:spAutoFit/>
          </a:bodyPr>
          <a:lstStyle/>
          <a:p>
            <a:r>
              <a:rPr lang="en-US" altLang="zh-CN" sz="40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70</a:t>
            </a:r>
            <a:r>
              <a:rPr lang="en-US" altLang="zh-CN" sz="1600" dirty="0" smtClean="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rPr>
              <a:t>%</a:t>
            </a:r>
            <a:endParaRPr lang="zh-CN" altLang="en-US" sz="16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7" name="矩形 76"/>
          <p:cNvSpPr/>
          <p:nvPr/>
        </p:nvSpPr>
        <p:spPr>
          <a:xfrm>
            <a:off x="8400216" y="5633383"/>
            <a:ext cx="2503986" cy="338554"/>
          </a:xfrm>
          <a:prstGeom prst="rect">
            <a:avLst/>
          </a:prstGeom>
        </p:spPr>
        <p:txBody>
          <a:bodyPr wrap="square">
            <a:spAutoFit/>
          </a:bodyPr>
          <a:lstStyle/>
          <a:p>
            <a:pPr algn="ctr"/>
            <a:r>
              <a:rPr lang="en-US" altLang="zh-CN" sz="16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123,456,789</a:t>
            </a:r>
            <a:endParaRPr lang="zh-CN" altLang="en-US" sz="2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8" name="矩形 77"/>
          <p:cNvSpPr/>
          <p:nvPr/>
        </p:nvSpPr>
        <p:spPr>
          <a:xfrm>
            <a:off x="2580574" y="5553883"/>
            <a:ext cx="1565285" cy="338554"/>
          </a:xfrm>
          <a:prstGeom prst="rect">
            <a:avLst/>
          </a:prstGeom>
        </p:spPr>
        <p:txBody>
          <a:bodyPr wrap="square">
            <a:spAutoFit/>
          </a:bodyPr>
          <a:lstStyle/>
          <a:p>
            <a:pPr algn="ctr"/>
            <a:r>
              <a:rPr lang="en-US" altLang="zh-CN" sz="1600" dirty="0" smtClean="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123,456,789</a:t>
            </a:r>
            <a:endParaRPr lang="zh-CN" altLang="en-US" sz="2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79" name="矩形 78"/>
          <p:cNvSpPr/>
          <p:nvPr/>
        </p:nvSpPr>
        <p:spPr>
          <a:xfrm>
            <a:off x="959309" y="5605401"/>
            <a:ext cx="1220231" cy="307777"/>
          </a:xfrm>
          <a:prstGeom prst="rect">
            <a:avLst/>
          </a:prstGeom>
        </p:spPr>
        <p:txBody>
          <a:bodyPr wrap="square">
            <a:spAutoFit/>
          </a:bodyPr>
          <a:lstStyle/>
          <a:p>
            <a:pPr algn="ctr"/>
            <a:r>
              <a:rPr lang="en-US" altLang="zh-CN" sz="14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123,456,789</a:t>
            </a:r>
            <a:endParaRPr lang="zh-CN" altLang="en-US" sz="1400" dirty="0">
              <a:solidFill>
                <a:schemeClr val="tx1">
                  <a:lumMod val="75000"/>
                  <a:lumOff val="25000"/>
                </a:schemeClr>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81" name="矩形 80"/>
          <p:cNvSpPr/>
          <p:nvPr>
            <p:custDataLst>
              <p:tags r:id="rId1"/>
            </p:custDataLst>
          </p:nvPr>
        </p:nvSpPr>
        <p:spPr>
          <a:xfrm>
            <a:off x="2831465" y="1099185"/>
            <a:ext cx="5509260" cy="338455"/>
          </a:xfrm>
          <a:prstGeom prst="rect">
            <a:avLst/>
          </a:prstGeom>
        </p:spPr>
        <p:txBody>
          <a:bodyPr wrap="square">
            <a:noAutofit/>
          </a:bodyPr>
          <a:lstStyle/>
          <a:p>
            <a:pPr algn="l"/>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导入外接大</a:t>
            </a:r>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模型</a:t>
            </a:r>
            <a:endPar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42" name="矩形 41"/>
          <p:cNvSpPr/>
          <p:nvPr/>
        </p:nvSpPr>
        <p:spPr>
          <a:xfrm>
            <a:off x="5182930" y="290117"/>
            <a:ext cx="1826142" cy="584775"/>
          </a:xfrm>
          <a:prstGeom prst="rect">
            <a:avLst/>
          </a:prstGeom>
        </p:spPr>
        <p:txBody>
          <a:bodyPr wrap="none">
            <a:spAutoFit/>
          </a:bodyPr>
          <a:lstStyle/>
          <a:p>
            <a:pPr algn="ctr"/>
            <a:r>
              <a:rPr lang="zh-CN" altLang="en-US" sz="3200" dirty="0">
                <a:latin typeface="Century Gothic" panose="020B0502020202020204" pitchFamily="34" charset="0"/>
                <a:ea typeface="思源黑体 CN Normal" panose="020B0400000000000000" pitchFamily="34" charset="-122"/>
                <a:sym typeface="Century Gothic" panose="020B0502020202020204" pitchFamily="34" charset="0"/>
              </a:rPr>
              <a:t>目标计划</a:t>
            </a:r>
            <a:endParaRPr lang="zh-CN" altLang="en-US" sz="3200" dirty="0"/>
          </a:p>
        </p:txBody>
      </p:sp>
      <p:sp>
        <p:nvSpPr>
          <p:cNvPr id="2" name="矩形 1"/>
          <p:cNvSpPr/>
          <p:nvPr>
            <p:custDataLst>
              <p:tags r:id="rId2"/>
            </p:custDataLst>
          </p:nvPr>
        </p:nvSpPr>
        <p:spPr>
          <a:xfrm>
            <a:off x="2830830" y="1510665"/>
            <a:ext cx="5509895" cy="338455"/>
          </a:xfrm>
          <a:prstGeom prst="rect">
            <a:avLst/>
          </a:prstGeom>
        </p:spPr>
        <p:txBody>
          <a:bodyPr wrap="square">
            <a:noAutofit/>
          </a:bodyPr>
          <a:p>
            <a:pPr algn="l"/>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研究如何对导入的模型进行扩充知识</a:t>
            </a:r>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库</a:t>
            </a:r>
            <a:endPar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3" name="矩形 2"/>
          <p:cNvSpPr/>
          <p:nvPr>
            <p:custDataLst>
              <p:tags r:id="rId3"/>
            </p:custDataLst>
          </p:nvPr>
        </p:nvSpPr>
        <p:spPr>
          <a:xfrm>
            <a:off x="2844800" y="2423795"/>
            <a:ext cx="6882765" cy="338455"/>
          </a:xfrm>
          <a:prstGeom prst="rect">
            <a:avLst/>
          </a:prstGeom>
        </p:spPr>
        <p:txBody>
          <a:bodyPr wrap="square">
            <a:noAutofit/>
          </a:bodyPr>
          <a:lstStyle/>
          <a:p>
            <a:pPr algn="l"/>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研究超星学习通</a:t>
            </a:r>
            <a:r>
              <a:rPr lang="en-US" altLang="zh-CN"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AI</a:t>
            </a:r>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助教数字人形象</a:t>
            </a:r>
            <a:r>
              <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设置</a:t>
            </a:r>
            <a:endPar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pic>
        <p:nvPicPr>
          <p:cNvPr id="4" name="图片 3" descr="屏幕截图 2024-11-23 190740"/>
          <p:cNvPicPr>
            <a:picLocks noChangeAspect="1"/>
          </p:cNvPicPr>
          <p:nvPr/>
        </p:nvPicPr>
        <p:blipFill>
          <a:blip r:embed="rId4"/>
          <a:stretch>
            <a:fillRect/>
          </a:stretch>
        </p:blipFill>
        <p:spPr>
          <a:xfrm>
            <a:off x="4328160" y="3263900"/>
            <a:ext cx="3820160" cy="2459355"/>
          </a:xfrm>
          <a:prstGeom prst="rect">
            <a:avLst/>
          </a:prstGeom>
        </p:spPr>
      </p:pic>
      <p:pic>
        <p:nvPicPr>
          <p:cNvPr id="5" name="图片 4" descr="屏幕截图 2024-11-23 190945"/>
          <p:cNvPicPr>
            <a:picLocks noChangeAspect="1"/>
          </p:cNvPicPr>
          <p:nvPr/>
        </p:nvPicPr>
        <p:blipFill>
          <a:blip r:embed="rId5"/>
          <a:stretch>
            <a:fillRect/>
          </a:stretch>
        </p:blipFill>
        <p:spPr>
          <a:xfrm>
            <a:off x="8390890" y="4520565"/>
            <a:ext cx="2588260" cy="1609090"/>
          </a:xfrm>
          <a:prstGeom prst="rect">
            <a:avLst/>
          </a:prstGeom>
        </p:spPr>
      </p:pic>
      <p:pic>
        <p:nvPicPr>
          <p:cNvPr id="6" name="图片 5" descr="屏幕截图 2024-11-23 191034"/>
          <p:cNvPicPr>
            <a:picLocks noChangeAspect="1"/>
          </p:cNvPicPr>
          <p:nvPr/>
        </p:nvPicPr>
        <p:blipFill>
          <a:blip r:embed="rId6"/>
          <a:stretch>
            <a:fillRect/>
          </a:stretch>
        </p:blipFill>
        <p:spPr>
          <a:xfrm>
            <a:off x="2485390" y="3767455"/>
            <a:ext cx="1614805" cy="2392045"/>
          </a:xfrm>
          <a:prstGeom prst="rect">
            <a:avLst/>
          </a:prstGeom>
        </p:spPr>
      </p:pic>
      <p:pic>
        <p:nvPicPr>
          <p:cNvPr id="7" name="图片 6" descr="屏幕截图 2024-11-23 191312"/>
          <p:cNvPicPr>
            <a:picLocks noChangeAspect="1"/>
          </p:cNvPicPr>
          <p:nvPr/>
        </p:nvPicPr>
        <p:blipFill>
          <a:blip r:embed="rId7"/>
          <a:stretch>
            <a:fillRect/>
          </a:stretch>
        </p:blipFill>
        <p:spPr>
          <a:xfrm>
            <a:off x="1000125" y="4258310"/>
            <a:ext cx="1152525" cy="1811020"/>
          </a:xfrm>
          <a:prstGeom prst="rect">
            <a:avLst/>
          </a:prstGeom>
        </p:spPr>
      </p:pic>
      <p:sp>
        <p:nvSpPr>
          <p:cNvPr id="30" name="矩形: 圆角 9"/>
          <p:cNvSpPr/>
          <p:nvPr>
            <p:custDataLst>
              <p:tags r:id="rId8"/>
            </p:custDataLst>
          </p:nvPr>
        </p:nvSpPr>
        <p:spPr>
          <a:xfrm>
            <a:off x="2215515" y="1099185"/>
            <a:ext cx="425450" cy="31686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01</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8" name="矩形: 圆角 9"/>
          <p:cNvSpPr/>
          <p:nvPr>
            <p:custDataLst>
              <p:tags r:id="rId9"/>
            </p:custDataLst>
          </p:nvPr>
        </p:nvSpPr>
        <p:spPr>
          <a:xfrm>
            <a:off x="2215784" y="1517569"/>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02</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9" name="矩形: 圆角 9"/>
          <p:cNvSpPr/>
          <p:nvPr>
            <p:custDataLst>
              <p:tags r:id="rId10"/>
            </p:custDataLst>
          </p:nvPr>
        </p:nvSpPr>
        <p:spPr>
          <a:xfrm>
            <a:off x="2215784" y="1979849"/>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03</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10" name="矩形: 圆角 9"/>
          <p:cNvSpPr/>
          <p:nvPr>
            <p:custDataLst>
              <p:tags r:id="rId11"/>
            </p:custDataLst>
          </p:nvPr>
        </p:nvSpPr>
        <p:spPr>
          <a:xfrm>
            <a:off x="2215784" y="2430699"/>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04</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12" name="矩形 11"/>
          <p:cNvSpPr/>
          <p:nvPr>
            <p:custDataLst>
              <p:tags r:id="rId12"/>
            </p:custDataLst>
          </p:nvPr>
        </p:nvSpPr>
        <p:spPr>
          <a:xfrm>
            <a:off x="2844800" y="2430780"/>
            <a:ext cx="6882765" cy="338455"/>
          </a:xfrm>
          <a:prstGeom prst="rect">
            <a:avLst/>
          </a:prstGeom>
        </p:spPr>
        <p:txBody>
          <a:bodyPr wrap="square">
            <a:noAutofit/>
          </a:bodyPr>
          <a:p>
            <a:pPr algn="l"/>
            <a:endParaRPr lang="zh-CN" altLang="en-US"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11" name="文本框 10"/>
          <p:cNvSpPr txBox="1"/>
          <p:nvPr>
            <p:custDataLst>
              <p:tags r:id="rId13"/>
            </p:custDataLst>
          </p:nvPr>
        </p:nvSpPr>
        <p:spPr>
          <a:xfrm>
            <a:off x="2830830" y="1979930"/>
            <a:ext cx="4064000" cy="368300"/>
          </a:xfrm>
          <a:prstGeom prst="rect">
            <a:avLst/>
          </a:prstGeom>
          <a:noFill/>
        </p:spPr>
        <p:txBody>
          <a:bodyPr wrap="square" rtlCol="0">
            <a:spAutoFit/>
          </a:bodyPr>
          <a:p>
            <a:r>
              <a:rPr lang="zh-CN" altLang="en-US">
                <a:latin typeface="+mn-ea"/>
                <a:cs typeface="+mn-ea"/>
              </a:rPr>
              <a:t>查</a:t>
            </a:r>
            <a:r>
              <a:rPr lang="zh-CN" altLang="en-US">
                <a:latin typeface="+mn-ea"/>
                <a:cs typeface="+mn-ea"/>
              </a:rPr>
              <a:t>找其他类</a:t>
            </a:r>
            <a:r>
              <a:rPr lang="zh-CN" altLang="en-US">
                <a:latin typeface="+mn-ea"/>
                <a:cs typeface="+mn-ea"/>
              </a:rPr>
              <a:t>大语言模型</a:t>
            </a:r>
            <a:endParaRPr lang="zh-CN" altLang="en-US">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250" fill="hold">
                                          <p:stCondLst>
                                            <p:cond delay="0"/>
                                          </p:stCondLst>
                                        </p:cTn>
                                        <p:tgtEl>
                                          <p:spTgt spid="81"/>
                                        </p:tgtEl>
                                        <p:attrNameLst>
                                          <p:attrName>style.visibility</p:attrName>
                                        </p:attrNameLst>
                                      </p:cBhvr>
                                      <p:to>
                                        <p:strVal val="visible"/>
                                      </p:to>
                                    </p:set>
                                    <p:animEffect transition="in" filter="fade">
                                      <p:cBhvr>
                                        <p:cTn id="7" dur="250"/>
                                        <p:tgtEl>
                                          <p:spTgt spid="81"/>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barn(outVertical)">
                                      <p:cBhvr>
                                        <p:cTn id="11" dur="500"/>
                                        <p:tgtEl>
                                          <p:spTgt spid="5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fade">
                                      <p:cBhvr>
                                        <p:cTn id="18" dur="500"/>
                                        <p:tgtEl>
                                          <p:spTgt spid="7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fade">
                                      <p:cBhvr>
                                        <p:cTn id="21" dur="500"/>
                                        <p:tgtEl>
                                          <p:spTgt spid="78"/>
                                        </p:tgtEl>
                                      </p:cBhvr>
                                    </p:animEffect>
                                  </p:childTnLst>
                                </p:cTn>
                              </p:par>
                              <p:par>
                                <p:cTn id="22" presetID="10" presetClass="entr" presetSubtype="0" fill="hold" nodeType="withEffect">
                                  <p:stCondLst>
                                    <p:cond delay="250"/>
                                  </p:stCondLst>
                                  <p:childTnLst>
                                    <p:set>
                                      <p:cBhvr>
                                        <p:cTn id="23" dur="1" fill="hold">
                                          <p:stCondLst>
                                            <p:cond delay="0"/>
                                          </p:stCondLst>
                                        </p:cTn>
                                        <p:tgtEl>
                                          <p:spTgt spid="66"/>
                                        </p:tgtEl>
                                        <p:attrNameLst>
                                          <p:attrName>style.visibility</p:attrName>
                                        </p:attrNameLst>
                                      </p:cBhvr>
                                      <p:to>
                                        <p:strVal val="visible"/>
                                      </p:to>
                                    </p:set>
                                    <p:animEffect transition="in" filter="fade">
                                      <p:cBhvr>
                                        <p:cTn id="24" dur="500"/>
                                        <p:tgtEl>
                                          <p:spTgt spid="66"/>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500"/>
                                        <p:tgtEl>
                                          <p:spTgt spid="76"/>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77"/>
                                        </p:tgtEl>
                                        <p:attrNameLst>
                                          <p:attrName>style.visibility</p:attrName>
                                        </p:attrNameLst>
                                      </p:cBhvr>
                                      <p:to>
                                        <p:strVal val="visible"/>
                                      </p:to>
                                    </p:set>
                                    <p:animEffect transition="in" filter="fade">
                                      <p:cBhvr>
                                        <p:cTn id="30" dur="500"/>
                                        <p:tgtEl>
                                          <p:spTgt spid="77"/>
                                        </p:tgtEl>
                                      </p:cBhvr>
                                    </p:animEffect>
                                  </p:childTnLst>
                                </p:cTn>
                              </p:par>
                              <p:par>
                                <p:cTn id="31" presetID="10" presetClass="entr" presetSubtype="0" fill="hold" nodeType="withEffect">
                                  <p:stCondLst>
                                    <p:cond delay="500"/>
                                  </p:stCondLst>
                                  <p:childTnLst>
                                    <p:set>
                                      <p:cBhvr>
                                        <p:cTn id="32" dur="1" fill="hold">
                                          <p:stCondLst>
                                            <p:cond delay="0"/>
                                          </p:stCondLst>
                                        </p:cTn>
                                        <p:tgtEl>
                                          <p:spTgt spid="51"/>
                                        </p:tgtEl>
                                        <p:attrNameLst>
                                          <p:attrName>style.visibility</p:attrName>
                                        </p:attrNameLst>
                                      </p:cBhvr>
                                      <p:to>
                                        <p:strVal val="visible"/>
                                      </p:to>
                                    </p:set>
                                    <p:animEffect transition="in" filter="fade">
                                      <p:cBhvr>
                                        <p:cTn id="33" dur="500"/>
                                        <p:tgtEl>
                                          <p:spTgt spid="51"/>
                                        </p:tgtEl>
                                      </p:cBhvr>
                                    </p:animEffect>
                                  </p:childTnLst>
                                </p:cTn>
                              </p:par>
                              <p:par>
                                <p:cTn id="34" presetID="10" presetClass="entr" presetSubtype="0" fill="hold" grpId="0" nodeType="withEffect">
                                  <p:stCondLst>
                                    <p:cond delay="500"/>
                                  </p:stCondLst>
                                  <p:childTnLst>
                                    <p:set>
                                      <p:cBhvr>
                                        <p:cTn id="35" dur="1" fill="hold">
                                          <p:stCondLst>
                                            <p:cond delay="0"/>
                                          </p:stCondLst>
                                        </p:cTn>
                                        <p:tgtEl>
                                          <p:spTgt spid="75"/>
                                        </p:tgtEl>
                                        <p:attrNameLst>
                                          <p:attrName>style.visibility</p:attrName>
                                        </p:attrNameLst>
                                      </p:cBhvr>
                                      <p:to>
                                        <p:strVal val="visible"/>
                                      </p:to>
                                    </p:set>
                                    <p:animEffect transition="in" filter="fade">
                                      <p:cBhvr>
                                        <p:cTn id="36" dur="500"/>
                                        <p:tgtEl>
                                          <p:spTgt spid="75"/>
                                        </p:tgtEl>
                                      </p:cBhvr>
                                    </p:animEffect>
                                  </p:childTnLst>
                                </p:cTn>
                              </p:par>
                              <p:par>
                                <p:cTn id="37" presetID="10" presetClass="entr" presetSubtype="0" fill="hold" grpId="0" nodeType="withEffect">
                                  <p:stCondLst>
                                    <p:cond delay="500"/>
                                  </p:stCondLst>
                                  <p:childTnLst>
                                    <p:set>
                                      <p:cBhvr>
                                        <p:cTn id="38" dur="1" fill="hold">
                                          <p:stCondLst>
                                            <p:cond delay="0"/>
                                          </p:stCondLst>
                                        </p:cTn>
                                        <p:tgtEl>
                                          <p:spTgt spid="79"/>
                                        </p:tgtEl>
                                        <p:attrNameLst>
                                          <p:attrName>style.visibility</p:attrName>
                                        </p:attrNameLst>
                                      </p:cBhvr>
                                      <p:to>
                                        <p:strVal val="visible"/>
                                      </p:to>
                                    </p:set>
                                    <p:animEffect transition="in" filter="fade">
                                      <p:cBhvr>
                                        <p:cTn id="39" dur="500"/>
                                        <p:tgtEl>
                                          <p:spTgt spid="79"/>
                                        </p:tgtEl>
                                      </p:cBhvr>
                                    </p:animEffect>
                                  </p:childTnLst>
                                </p:cTn>
                              </p:par>
                              <p:par>
                                <p:cTn id="40" presetID="10" presetClass="entr" presetSubtype="0" fill="hold" nodeType="withEffect">
                                  <p:stCondLst>
                                    <p:cond delay="750"/>
                                  </p:stCondLst>
                                  <p:childTnLst>
                                    <p:set>
                                      <p:cBhvr>
                                        <p:cTn id="41" dur="1" fill="hold">
                                          <p:stCondLst>
                                            <p:cond delay="0"/>
                                          </p:stCondLst>
                                        </p:cTn>
                                        <p:tgtEl>
                                          <p:spTgt spid="60"/>
                                        </p:tgtEl>
                                        <p:attrNameLst>
                                          <p:attrName>style.visibility</p:attrName>
                                        </p:attrNameLst>
                                      </p:cBhvr>
                                      <p:to>
                                        <p:strVal val="visible"/>
                                      </p:to>
                                    </p:set>
                                    <p:animEffect transition="in" filter="fade">
                                      <p:cBhvr>
                                        <p:cTn id="42" dur="500"/>
                                        <p:tgtEl>
                                          <p:spTgt spid="60"/>
                                        </p:tgtEl>
                                      </p:cBhvr>
                                    </p:animEffect>
                                  </p:childTnLst>
                                </p:cTn>
                              </p:par>
                              <p:par>
                                <p:cTn id="43" presetID="10" presetClass="entr" presetSubtype="0" fill="hold" grpId="0" nodeType="withEffect">
                                  <p:stCondLst>
                                    <p:cond delay="750"/>
                                  </p:stCondLst>
                                  <p:childTnLst>
                                    <p:set>
                                      <p:cBhvr>
                                        <p:cTn id="44" dur="1" fill="hold">
                                          <p:stCondLst>
                                            <p:cond delay="0"/>
                                          </p:stCondLst>
                                        </p:cTn>
                                        <p:tgtEl>
                                          <p:spTgt spid="72"/>
                                        </p:tgtEl>
                                        <p:attrNameLst>
                                          <p:attrName>style.visibility</p:attrName>
                                        </p:attrNameLst>
                                      </p:cBhvr>
                                      <p:to>
                                        <p:strVal val="visible"/>
                                      </p:to>
                                    </p:set>
                                    <p:animEffect transition="in" filter="fade">
                                      <p:cBhvr>
                                        <p:cTn id="45" dur="500"/>
                                        <p:tgtEl>
                                          <p:spTgt spid="72"/>
                                        </p:tgtEl>
                                      </p:cBhvr>
                                    </p:animEffect>
                                  </p:childTnLst>
                                </p:cTn>
                              </p:par>
                              <p:par>
                                <p:cTn id="46" presetID="10" presetClass="entr" presetSubtype="0" fill="hold" grpId="0" nodeType="withEffect">
                                  <p:stCondLst>
                                    <p:cond delay="750"/>
                                  </p:stCondLst>
                                  <p:childTnLst>
                                    <p:set>
                                      <p:cBhvr>
                                        <p:cTn id="47" dur="1" fill="hold">
                                          <p:stCondLst>
                                            <p:cond delay="0"/>
                                          </p:stCondLst>
                                        </p:cTn>
                                        <p:tgtEl>
                                          <p:spTgt spid="73"/>
                                        </p:tgtEl>
                                        <p:attrNameLst>
                                          <p:attrName>style.visibility</p:attrName>
                                        </p:attrNameLst>
                                      </p:cBhvr>
                                      <p:to>
                                        <p:strVal val="visible"/>
                                      </p:to>
                                    </p:set>
                                    <p:animEffect transition="in" filter="fade">
                                      <p:cBhvr>
                                        <p:cTn id="48" dur="500"/>
                                        <p:tgtEl>
                                          <p:spTgt spid="73"/>
                                        </p:tgtEl>
                                      </p:cBhvr>
                                    </p:animEffect>
                                  </p:childTnLst>
                                </p:cTn>
                              </p:par>
                            </p:childTnLst>
                          </p:cTn>
                        </p:par>
                        <p:par>
                          <p:cTn id="49" fill="hold">
                            <p:stCondLst>
                              <p:cond delay="1500"/>
                            </p:stCondLst>
                            <p:childTnLst>
                              <p:par>
                                <p:cTn id="50" presetID="10" presetClass="entr" presetSubtype="0" fill="hold" grpId="0" nodeType="afterEffect">
                                  <p:stCondLst>
                                    <p:cond delay="250"/>
                                  </p:stCondLst>
                                  <p:childTnLst>
                                    <p:set>
                                      <p:cBhvr>
                                        <p:cTn id="51" dur="500" fill="hold">
                                          <p:stCondLst>
                                            <p:cond delay="0"/>
                                          </p:stCondLst>
                                        </p:cTn>
                                        <p:tgtEl>
                                          <p:spTgt spid="2"/>
                                        </p:tgtEl>
                                        <p:attrNameLst>
                                          <p:attrName>style.visibility</p:attrName>
                                        </p:attrNameLst>
                                      </p:cBhvr>
                                      <p:to>
                                        <p:strVal val="visible"/>
                                      </p:to>
                                    </p:set>
                                    <p:animEffect transition="in" filter="fade">
                                      <p:cBhvr>
                                        <p:cTn id="52" dur="500"/>
                                        <p:tgtEl>
                                          <p:spTgt spid="2"/>
                                        </p:tgtEl>
                                      </p:cBhvr>
                                    </p:animEffect>
                                  </p:childTnLst>
                                </p:cTn>
                              </p:par>
                            </p:childTnLst>
                          </p:cTn>
                        </p:par>
                        <p:par>
                          <p:cTn id="53" fill="hold">
                            <p:stCondLst>
                              <p:cond delay="2250"/>
                            </p:stCondLst>
                            <p:childTnLst>
                              <p:par>
                                <p:cTn id="54" presetID="10" presetClass="entr" presetSubtype="0"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81">
                                            <p:txEl>
                                              <p:pRg st="0" end="0"/>
                                            </p:txEl>
                                          </p:spTgt>
                                        </p:tgtEl>
                                        <p:attrNameLst>
                                          <p:attrName>style.visibility</p:attrName>
                                        </p:attrNameLst>
                                      </p:cBhvr>
                                      <p:to>
                                        <p:strVal val="visible"/>
                                      </p:to>
                                    </p:set>
                                    <p:animEffect transition="in" filter="blinds(horizontal)">
                                      <p:cBhvr>
                                        <p:cTn id="61" dur="500"/>
                                        <p:tgtEl>
                                          <p:spTgt spid="81">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2">
                                            <p:txEl>
                                              <p:pRg st="0" end="0"/>
                                            </p:txEl>
                                          </p:spTgt>
                                        </p:tgtEl>
                                        <p:attrNameLst>
                                          <p:attrName>style.visibility</p:attrName>
                                        </p:attrNameLst>
                                      </p:cBhvr>
                                      <p:to>
                                        <p:strVal val="visible"/>
                                      </p:to>
                                    </p:set>
                                    <p:animEffect transition="in" filter="blinds(horizontal)">
                                      <p:cBhvr>
                                        <p:cTn id="66" dur="500"/>
                                        <p:tgtEl>
                                          <p:spTgt spid="2">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blinds(horizontal)">
                                      <p:cBhvr>
                                        <p:cTn id="71" dur="500"/>
                                        <p:tgtEl>
                                          <p:spTgt spid="3"/>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indefinite" fill="hold">
                                          <p:stCondLst>
                                            <p:cond delay="0"/>
                                          </p:stCondLst>
                                        </p:cTn>
                                        <p:tgtEl>
                                          <p:spTgt spid="11">
                                            <p:txEl>
                                              <p:pRg st="0" end="0"/>
                                            </p:txEl>
                                          </p:spTgt>
                                        </p:tgtEl>
                                        <p:attrNameLst>
                                          <p:attrName>style.visibility</p:attrName>
                                        </p:attrNameLst>
                                      </p:cBhvr>
                                      <p:to>
                                        <p:strVal val="visible"/>
                                      </p:to>
                                    </p:set>
                                    <p:animEffect transition="in" filter="blinds(horizontal)">
                                      <p:cBhvr>
                                        <p:cTn id="76" dur="indefinite"/>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72" grpId="0"/>
      <p:bldP spid="73" grpId="0"/>
      <p:bldP spid="74" grpId="0"/>
      <p:bldP spid="75" grpId="0"/>
      <p:bldP spid="76" grpId="0"/>
      <p:bldP spid="77" grpId="0"/>
      <p:bldP spid="78" grpId="0"/>
      <p:bldP spid="79" grpId="0"/>
      <p:bldP spid="81" grpId="0"/>
      <p:bldP spid="2" grpId="0"/>
      <p:bldP spid="12" grpId="0"/>
      <p:bldP spid="3" grpId="0"/>
      <p:bldP spid="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6268354" y="1726803"/>
            <a:ext cx="5041265" cy="3987482"/>
            <a:chOff x="6186439" y="1944517"/>
            <a:chExt cx="5041265" cy="3987482"/>
          </a:xfrm>
        </p:grpSpPr>
        <p:sp>
          <p:nvSpPr>
            <p:cNvPr id="29" name="文本框 28"/>
            <p:cNvSpPr txBox="1"/>
            <p:nvPr>
              <p:custDataLst>
                <p:tags r:id="rId2"/>
              </p:custDataLst>
            </p:nvPr>
          </p:nvSpPr>
          <p:spPr>
            <a:xfrm>
              <a:off x="6716664" y="1944517"/>
              <a:ext cx="3562985" cy="460375"/>
            </a:xfrm>
            <a:prstGeom prst="rect">
              <a:avLst/>
            </a:prstGeom>
            <a:noFill/>
          </p:spPr>
          <p:txBody>
            <a:bodyPr wrap="square" lIns="0" rIns="0" rtlCol="0" anchor="ctr" anchorCtr="0">
              <a:spAutoFit/>
            </a:bodyPr>
            <a:lstStyle/>
            <a:p>
              <a:r>
                <a:rPr lang="zh-CN" altLang="en-US" sz="24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导入外接大模型</a:t>
              </a:r>
              <a:endParaRPr lang="zh-CN" altLang="en-US" sz="2400"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30" name="矩形: 圆角 9"/>
            <p:cNvSpPr/>
            <p:nvPr>
              <p:custDataLst>
                <p:tags r:id="rId3"/>
              </p:custDataLst>
            </p:nvPr>
          </p:nvSpPr>
          <p:spPr>
            <a:xfrm>
              <a:off x="6186439" y="2003253"/>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01</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31" name="矩形 30"/>
            <p:cNvSpPr/>
            <p:nvPr>
              <p:custDataLst>
                <p:tags r:id="rId4"/>
              </p:custDataLst>
            </p:nvPr>
          </p:nvSpPr>
          <p:spPr>
            <a:xfrm>
              <a:off x="6186439" y="2642699"/>
              <a:ext cx="5041265" cy="3289300"/>
            </a:xfrm>
            <a:prstGeom prst="rect">
              <a:avLst/>
            </a:prstGeom>
          </p:spPr>
          <p:txBody>
            <a:bodyPr wrap="square" lIns="0" rIns="0" anchor="ctr" anchorCtr="0">
              <a:noAutofit/>
            </a:bodyPr>
            <a:lstStyle/>
            <a:p>
              <a:pPr>
                <a:lnSpc>
                  <a:spcPct val="120000"/>
                </a:lnSpc>
              </a:pP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通过超星学习通中的</a:t>
              </a:r>
              <a:r>
                <a:rPr lang="en-US" altLang="zh-CN"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AI</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工作台</a:t>
              </a:r>
              <a:r>
                <a:rPr lang="en-US" altLang="zh-CN"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我们导入了</a:t>
              </a:r>
              <a:r>
                <a:rPr lang="en-US" altLang="zh-CN"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Link AI</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大语言模型，并进行了基础配置，命名为离散数学的</a:t>
              </a:r>
              <a:r>
                <a:rPr lang="en-US" altLang="zh-CN"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AI</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助教，成功完成了外界语言模型的导入，并且该语言模型功能较为齐全，可以回答各类领域的知识</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问题。</a:t>
              </a:r>
              <a:endPar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grpSp>
      <p:sp>
        <p:nvSpPr>
          <p:cNvPr id="53" name="矩形 52"/>
          <p:cNvSpPr/>
          <p:nvPr/>
        </p:nvSpPr>
        <p:spPr>
          <a:xfrm>
            <a:off x="5182930" y="290117"/>
            <a:ext cx="1826142" cy="584775"/>
          </a:xfrm>
          <a:prstGeom prst="rect">
            <a:avLst/>
          </a:prstGeom>
        </p:spPr>
        <p:txBody>
          <a:bodyPr wrap="none">
            <a:spAutoFit/>
          </a:bodyPr>
          <a:lstStyle/>
          <a:p>
            <a:pPr algn="ctr"/>
            <a:r>
              <a:rPr lang="zh-CN" altLang="en-US" sz="3200" dirty="0">
                <a:latin typeface="Century Gothic" panose="020B0502020202020204" pitchFamily="34" charset="0"/>
                <a:ea typeface="思源黑体 CN Normal" panose="020B0400000000000000" pitchFamily="34" charset="-122"/>
                <a:sym typeface="Century Gothic" panose="020B0502020202020204" pitchFamily="34" charset="0"/>
              </a:rPr>
              <a:t>完成情况</a:t>
            </a:r>
            <a:endParaRPr lang="zh-CN" altLang="en-US" sz="3200" dirty="0"/>
          </a:p>
        </p:txBody>
      </p:sp>
      <p:pic>
        <p:nvPicPr>
          <p:cNvPr id="2" name="图片 1"/>
          <p:cNvPicPr>
            <a:picLocks noChangeAspect="1"/>
          </p:cNvPicPr>
          <p:nvPr/>
        </p:nvPicPr>
        <p:blipFill>
          <a:blip r:embed="rId5"/>
          <a:stretch>
            <a:fillRect/>
          </a:stretch>
        </p:blipFill>
        <p:spPr>
          <a:xfrm>
            <a:off x="171450" y="996315"/>
            <a:ext cx="5449570" cy="2882265"/>
          </a:xfrm>
          <a:prstGeom prst="rect">
            <a:avLst/>
          </a:prstGeom>
        </p:spPr>
      </p:pic>
      <p:pic>
        <p:nvPicPr>
          <p:cNvPr id="4" name="图片 3"/>
          <p:cNvPicPr>
            <a:picLocks noChangeAspect="1"/>
          </p:cNvPicPr>
          <p:nvPr/>
        </p:nvPicPr>
        <p:blipFill>
          <a:blip r:embed="rId6"/>
          <a:stretch>
            <a:fillRect/>
          </a:stretch>
        </p:blipFill>
        <p:spPr>
          <a:xfrm>
            <a:off x="171450" y="3878580"/>
            <a:ext cx="5346065" cy="28124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1+#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custDataLst>
              <p:tags r:id="rId1"/>
            </p:custDataLst>
          </p:nvPr>
        </p:nvSpPr>
        <p:spPr>
          <a:xfrm>
            <a:off x="6304915" y="1844040"/>
            <a:ext cx="5041265" cy="3289300"/>
          </a:xfrm>
          <a:prstGeom prst="rect">
            <a:avLst/>
          </a:prstGeom>
        </p:spPr>
        <p:txBody>
          <a:bodyPr wrap="square" lIns="0" rIns="0" anchor="ctr" anchorCtr="0">
            <a:noAutofit/>
          </a:bodyPr>
          <a:lstStyle/>
          <a:p>
            <a:pPr>
              <a:lnSpc>
                <a:spcPct val="120000"/>
              </a:lnSpc>
            </a:pP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该语言模型可以回答一些基础的离散数学问题，但尚未对数据库导入离散数学方面的内容，因此该模型关于离散数学方面的知识逊色于超星学习通自带的</a:t>
            </a:r>
            <a:r>
              <a:rPr lang="en-US" altLang="zh-CN"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I</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助教。因此对该模型知识库的扩充也是必要</a:t>
            </a:r>
            <a:r>
              <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的。</a:t>
            </a:r>
            <a:endParaRPr lang="zh-CN" altLang="en-US" sz="2400" dirty="0">
              <a:solidFill>
                <a:srgbClr val="737373"/>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pic>
        <p:nvPicPr>
          <p:cNvPr id="5" name="图片 4"/>
          <p:cNvPicPr>
            <a:picLocks noChangeAspect="1"/>
          </p:cNvPicPr>
          <p:nvPr/>
        </p:nvPicPr>
        <p:blipFill>
          <a:blip r:embed="rId2"/>
          <a:stretch>
            <a:fillRect/>
          </a:stretch>
        </p:blipFill>
        <p:spPr>
          <a:xfrm>
            <a:off x="77470" y="1180465"/>
            <a:ext cx="5857240" cy="45339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5589270" y="1240155"/>
            <a:ext cx="5392420" cy="2851150"/>
          </a:xfrm>
          <a:prstGeom prst="rect">
            <a:avLst/>
          </a:prstGeom>
        </p:spPr>
        <p:txBody>
          <a:bodyPr wrap="square" tIns="36000">
            <a:spAutoFit/>
          </a:bodyPr>
          <a:lstStyle/>
          <a:p>
            <a:pPr>
              <a:lnSpc>
                <a:spcPct val="150000"/>
              </a:lnSpc>
            </a:pPr>
            <a:r>
              <a:rPr lang="en-US" altLang="zh-CN"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Link AI</a:t>
            </a:r>
            <a:r>
              <a:rPr lang="zh-CN" altLang="en-US"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语言模型扩充知识库的方法有很多，可以通过导入</a:t>
            </a:r>
            <a:r>
              <a:rPr lang="en-US" altLang="zh-CN"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txt, pdf, md, docx</a:t>
            </a:r>
            <a:r>
              <a:rPr lang="zh-CN" altLang="en-US"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a:t>
            </a:r>
            <a:r>
              <a:rPr lang="en-US" altLang="zh-CN"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csv</a:t>
            </a:r>
            <a:r>
              <a:rPr lang="zh-CN" altLang="en-US"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文件和导入网站，并且自动提取文件和网站上的文字和内容来对知识库进行扩充。其中使用哪一种方式扩充知识库的效率更高与需要扩充什么类型的内容还需要进一步讨论与</a:t>
            </a:r>
            <a:r>
              <a:rPr lang="zh-CN" altLang="en-US"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研究。</a:t>
            </a:r>
            <a:endParaRPr lang="zh-CN" altLang="en-US" sz="20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30" name="矩形: 圆角 9"/>
          <p:cNvSpPr/>
          <p:nvPr>
            <p:custDataLst>
              <p:tags r:id="rId2"/>
            </p:custDataLst>
          </p:nvPr>
        </p:nvSpPr>
        <p:spPr>
          <a:xfrm>
            <a:off x="3172460" y="275590"/>
            <a:ext cx="639445" cy="5746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02</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29" name="文本框 28"/>
          <p:cNvSpPr txBox="1"/>
          <p:nvPr>
            <p:custDataLst>
              <p:tags r:id="rId3"/>
            </p:custDataLst>
          </p:nvPr>
        </p:nvSpPr>
        <p:spPr>
          <a:xfrm>
            <a:off x="3870325" y="324168"/>
            <a:ext cx="6258560" cy="829945"/>
          </a:xfrm>
          <a:prstGeom prst="rect">
            <a:avLst/>
          </a:prstGeom>
          <a:noFill/>
        </p:spPr>
        <p:txBody>
          <a:bodyPr wrap="square" lIns="0" rIns="0" rtlCol="0" anchor="ctr" anchorCtr="0">
            <a:spAutoFit/>
          </a:bodyPr>
          <a:p>
            <a:r>
              <a:rPr lang="zh-CN" altLang="en-US" sz="24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研究如何扩充知识库</a:t>
            </a:r>
            <a:endParaRPr lang="zh-CN" altLang="en-US" sz="2400" dirty="0">
              <a:solidFill>
                <a:schemeClr val="tx1">
                  <a:lumMod val="75000"/>
                  <a:lumOff val="25000"/>
                </a:schemeClr>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a:p>
            <a:endParaRPr lang="zh-CN" altLang="en-US" sz="2400"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pic>
        <p:nvPicPr>
          <p:cNvPr id="5" name="图片 4" descr="屏幕截图 2024-12-07 202944"/>
          <p:cNvPicPr>
            <a:picLocks noChangeAspect="1"/>
          </p:cNvPicPr>
          <p:nvPr/>
        </p:nvPicPr>
        <p:blipFill>
          <a:blip r:embed="rId4"/>
          <a:stretch>
            <a:fillRect/>
          </a:stretch>
        </p:blipFill>
        <p:spPr>
          <a:xfrm>
            <a:off x="186055" y="3716020"/>
            <a:ext cx="5181600" cy="3103880"/>
          </a:xfrm>
          <a:prstGeom prst="rect">
            <a:avLst/>
          </a:prstGeom>
        </p:spPr>
      </p:pic>
      <p:pic>
        <p:nvPicPr>
          <p:cNvPr id="6" name="图片 5" descr="屏幕截图 2024-12-07 202924"/>
          <p:cNvPicPr>
            <a:picLocks noChangeAspect="1"/>
          </p:cNvPicPr>
          <p:nvPr/>
        </p:nvPicPr>
        <p:blipFill>
          <a:blip r:embed="rId5"/>
          <a:stretch>
            <a:fillRect/>
          </a:stretch>
        </p:blipFill>
        <p:spPr>
          <a:xfrm>
            <a:off x="146050" y="949325"/>
            <a:ext cx="5220970" cy="2667000"/>
          </a:xfrm>
          <a:prstGeom prst="rect">
            <a:avLst/>
          </a:prstGeom>
        </p:spPr>
      </p:pic>
      <p:pic>
        <p:nvPicPr>
          <p:cNvPr id="2" name="图片 1" descr="微信图片_20241209194907"/>
          <p:cNvPicPr>
            <a:picLocks noChangeAspect="1"/>
          </p:cNvPicPr>
          <p:nvPr/>
        </p:nvPicPr>
        <p:blipFill>
          <a:blip r:embed="rId6"/>
          <a:stretch>
            <a:fillRect/>
          </a:stretch>
        </p:blipFill>
        <p:spPr>
          <a:xfrm>
            <a:off x="6395720" y="4177030"/>
            <a:ext cx="4306570" cy="25457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right)">
                                      <p:cBhvr>
                                        <p:cTn id="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9"/>
          <p:cNvSpPr/>
          <p:nvPr>
            <p:custDataLst>
              <p:tags r:id="rId1"/>
            </p:custDataLst>
          </p:nvPr>
        </p:nvSpPr>
        <p:spPr>
          <a:xfrm>
            <a:off x="4152265" y="275590"/>
            <a:ext cx="713740" cy="5746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03</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7" name="文本框 6"/>
          <p:cNvSpPr txBox="1"/>
          <p:nvPr/>
        </p:nvSpPr>
        <p:spPr>
          <a:xfrm>
            <a:off x="7110095" y="1654810"/>
            <a:ext cx="4876165" cy="4654550"/>
          </a:xfrm>
          <a:prstGeom prst="rect">
            <a:avLst/>
          </a:prstGeom>
          <a:noFill/>
        </p:spPr>
        <p:txBody>
          <a:bodyPr wrap="square" rtlCol="0">
            <a:noAutofit/>
          </a:bodyPr>
          <a:p>
            <a:r>
              <a:rPr lang="en-US" altLang="zh-CN" sz="2000"/>
              <a:t>Link AI</a:t>
            </a:r>
            <a:r>
              <a:rPr lang="zh-CN" altLang="en-US" sz="2000"/>
              <a:t>的功能较为齐全，但仍需查找其他的语言模型并进行比对优劣。本周我们查找了</a:t>
            </a:r>
            <a:r>
              <a:rPr lang="en-US" altLang="zh-CN" sz="2000"/>
              <a:t>LMStudio</a:t>
            </a:r>
            <a:r>
              <a:rPr lang="zh-CN" altLang="en-US" sz="2000"/>
              <a:t>语言模型，并学习了如何部署本地模型。通过对比我们发现虽然</a:t>
            </a:r>
            <a:r>
              <a:rPr lang="en-US" altLang="zh-CN" sz="2000"/>
              <a:t>LMStudio</a:t>
            </a:r>
            <a:r>
              <a:rPr lang="zh-CN" altLang="en-US" sz="2000"/>
              <a:t>的功能较为齐全，但考虑到导入操作过于复杂，操作界面是全英文和在学习通上没必要使用过于复杂的语言模型等情况，我们没有</a:t>
            </a:r>
            <a:r>
              <a:rPr lang="zh-CN" altLang="en-US" sz="2000"/>
              <a:t>选择将其导入超星学习通系统中</a:t>
            </a:r>
            <a:r>
              <a:rPr lang="zh-CN" altLang="en-US"/>
              <a:t>。</a:t>
            </a:r>
            <a:endParaRPr lang="zh-CN" altLang="en-US"/>
          </a:p>
        </p:txBody>
      </p:sp>
      <p:sp>
        <p:nvSpPr>
          <p:cNvPr id="2" name="文本框 1"/>
          <p:cNvSpPr txBox="1"/>
          <p:nvPr>
            <p:custDataLst>
              <p:tags r:id="rId2"/>
            </p:custDataLst>
          </p:nvPr>
        </p:nvSpPr>
        <p:spPr>
          <a:xfrm>
            <a:off x="4939030" y="379095"/>
            <a:ext cx="4064000" cy="368300"/>
          </a:xfrm>
          <a:prstGeom prst="rect">
            <a:avLst/>
          </a:prstGeom>
          <a:noFill/>
        </p:spPr>
        <p:txBody>
          <a:bodyPr wrap="square" rtlCol="0">
            <a:spAutoFit/>
          </a:bodyPr>
          <a:p>
            <a:r>
              <a:rPr lang="zh-CN" altLang="en-US">
                <a:latin typeface="+mn-ea"/>
                <a:cs typeface="+mn-ea"/>
              </a:rPr>
              <a:t>查</a:t>
            </a:r>
            <a:r>
              <a:rPr lang="zh-CN" altLang="en-US">
                <a:latin typeface="+mn-ea"/>
                <a:cs typeface="+mn-ea"/>
              </a:rPr>
              <a:t>找其他类</a:t>
            </a:r>
            <a:r>
              <a:rPr lang="zh-CN" altLang="en-US">
                <a:latin typeface="+mn-ea"/>
                <a:cs typeface="+mn-ea"/>
              </a:rPr>
              <a:t>大语言模型</a:t>
            </a:r>
            <a:endParaRPr lang="zh-CN" altLang="en-US">
              <a:latin typeface="+mn-ea"/>
              <a:cs typeface="+mn-ea"/>
            </a:endParaRPr>
          </a:p>
        </p:txBody>
      </p:sp>
      <p:pic>
        <p:nvPicPr>
          <p:cNvPr id="4" name="图片 3" descr="屏幕截图 2024-12-07 204847"/>
          <p:cNvPicPr>
            <a:picLocks noChangeAspect="1"/>
          </p:cNvPicPr>
          <p:nvPr/>
        </p:nvPicPr>
        <p:blipFill>
          <a:blip r:embed="rId3"/>
          <a:stretch>
            <a:fillRect/>
          </a:stretch>
        </p:blipFill>
        <p:spPr>
          <a:xfrm>
            <a:off x="274955" y="1615440"/>
            <a:ext cx="6665595" cy="44932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indefinite" fill="hold">
                                          <p:stCondLst>
                                            <p:cond delay="0"/>
                                          </p:stCondLst>
                                        </p:cTn>
                                        <p:tgtEl>
                                          <p:spTgt spid="2">
                                            <p:txEl>
                                              <p:pRg st="0" end="0"/>
                                            </p:txEl>
                                          </p:spTgt>
                                        </p:tgtEl>
                                        <p:attrNameLst>
                                          <p:attrName>style.visibility</p:attrName>
                                        </p:attrNameLst>
                                      </p:cBhvr>
                                      <p:to>
                                        <p:strVal val="visible"/>
                                      </p:to>
                                    </p:set>
                                    <p:animEffect transition="in" filter="blinds(horizontal)">
                                      <p:cBhvr>
                                        <p:cTn id="11" dur="indefinite"/>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61535" y="-415636"/>
            <a:ext cx="11194026" cy="55279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9" name="矩形 8"/>
          <p:cNvSpPr/>
          <p:nvPr/>
        </p:nvSpPr>
        <p:spPr>
          <a:xfrm>
            <a:off x="-2140527" y="1849582"/>
            <a:ext cx="12115800" cy="58812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flipV="1">
            <a:off x="5473266" y="3082125"/>
            <a:ext cx="0" cy="82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365654" y="3063025"/>
            <a:ext cx="1605280" cy="521970"/>
          </a:xfrm>
          <a:prstGeom prst="rect">
            <a:avLst/>
          </a:prstGeom>
          <a:noFill/>
        </p:spPr>
        <p:txBody>
          <a:bodyPr wrap="none" rtlCol="0">
            <a:spAutoFit/>
          </a:bodyPr>
          <a:lstStyle/>
          <a:p>
            <a:pPr algn="ctr"/>
            <a:r>
              <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rPr>
              <a:t>问题总结</a:t>
            </a:r>
            <a:endParaRPr lang="zh-CN" altLang="en-US" sz="2800" dirty="0">
              <a:solidFill>
                <a:srgbClr val="317ABD"/>
              </a:solidFill>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1" name="矩形 30"/>
          <p:cNvSpPr/>
          <p:nvPr/>
        </p:nvSpPr>
        <p:spPr>
          <a:xfrm>
            <a:off x="3562185" y="3559893"/>
            <a:ext cx="1212215" cy="368300"/>
          </a:xfrm>
          <a:prstGeom prst="rect">
            <a:avLst/>
          </a:prstGeom>
        </p:spPr>
        <p:txBody>
          <a:bodyPr wrap="none">
            <a:spAutoFit/>
          </a:bodyPr>
          <a:lstStyle/>
          <a:p>
            <a:pPr algn="ctr"/>
            <a:r>
              <a:rPr lang="en-US" altLang="zh-CN" i="1" dirty="0" smtClean="0">
                <a:latin typeface="Century Gothic" panose="020B0502020202020204" pitchFamily="34" charset="0"/>
                <a:ea typeface="思源黑体 CN Normal" panose="020B0400000000000000" pitchFamily="34" charset="-122"/>
                <a:sym typeface="Century Gothic" panose="020B0502020202020204" pitchFamily="34" charset="0"/>
              </a:rPr>
              <a:t>S</a:t>
            </a:r>
            <a:r>
              <a:rPr lang="en-US" altLang="zh-CN" i="1" dirty="0" smtClean="0">
                <a:latin typeface="Century Gothic" panose="020B0502020202020204" pitchFamily="34" charset="0"/>
                <a:ea typeface="思源黑体 CN Normal" panose="020B0400000000000000" pitchFamily="34" charset="-122"/>
                <a:sym typeface="Century Gothic" panose="020B0502020202020204" pitchFamily="34" charset="0"/>
              </a:rPr>
              <a:t>ummary</a:t>
            </a:r>
            <a:endParaRPr lang="en-US" altLang="zh-CN" i="1" dirty="0" smtClean="0">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2" name="文本框 1"/>
          <p:cNvSpPr txBox="1"/>
          <p:nvPr/>
        </p:nvSpPr>
        <p:spPr>
          <a:xfrm>
            <a:off x="5975350" y="3281045"/>
            <a:ext cx="3522345" cy="429895"/>
          </a:xfrm>
          <a:prstGeom prst="rect">
            <a:avLst/>
          </a:prstGeom>
          <a:noFill/>
        </p:spPr>
        <p:txBody>
          <a:bodyPr wrap="square" rtlCol="0">
            <a:spAutoFit/>
          </a:bodyPr>
          <a:p>
            <a:pPr algn="l">
              <a:buClrTx/>
              <a:buSzTx/>
              <a:buFontTx/>
            </a:pPr>
            <a:r>
              <a:rPr lang="zh-CN" altLang="en-US" sz="2200" dirty="0">
                <a:latin typeface="Century Gothic" panose="020B0502020202020204" pitchFamily="34" charset="0"/>
                <a:ea typeface="思源黑体 CN Normal" panose="020B0400000000000000" pitchFamily="34" charset="-122"/>
              </a:rPr>
              <a:t>已有问题总结</a:t>
            </a:r>
            <a:endParaRPr lang="zh-CN" altLang="en-US" sz="2200" dirty="0">
              <a:latin typeface="Century Gothic" panose="020B0502020202020204" pitchFamily="34" charset="0"/>
              <a:ea typeface="思源黑体 CN Normal" panose="020B04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1000"/>
                                        <p:tgtEl>
                                          <p:spTgt spid="9"/>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30"/>
                                        </p:tgtEl>
                                        <p:attrNameLst>
                                          <p:attrName>style.visibility</p:attrName>
                                        </p:attrNameLst>
                                      </p:cBhvr>
                                      <p:to>
                                        <p:strVal val="visible"/>
                                      </p:to>
                                    </p:set>
                                    <p:anim calcmode="lin" valueType="num">
                                      <p:cBhvr additive="base">
                                        <p:cTn id="14" dur="500" fill="hold"/>
                                        <p:tgtEl>
                                          <p:spTgt spid="30"/>
                                        </p:tgtEl>
                                        <p:attrNameLst>
                                          <p:attrName>ppt_x</p:attrName>
                                        </p:attrNameLst>
                                      </p:cBhvr>
                                      <p:tavLst>
                                        <p:tav tm="0">
                                          <p:val>
                                            <p:strVal val="0-#ppt_w/2"/>
                                          </p:val>
                                        </p:tav>
                                        <p:tav tm="100000">
                                          <p:val>
                                            <p:strVal val="#ppt_x"/>
                                          </p:val>
                                        </p:tav>
                                      </p:tavLst>
                                    </p:anim>
                                    <p:anim calcmode="lin" valueType="num">
                                      <p:cBhvr additive="base">
                                        <p:cTn id="15" dur="500" fill="hold"/>
                                        <p:tgtEl>
                                          <p:spTgt spid="30"/>
                                        </p:tgtEl>
                                        <p:attrNameLst>
                                          <p:attrName>ppt_y</p:attrName>
                                        </p:attrNameLst>
                                      </p:cBhvr>
                                      <p:tavLst>
                                        <p:tav tm="0">
                                          <p:val>
                                            <p:strVal val="#ppt_y"/>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16" presetClass="entr" presetSubtype="26" fill="hold"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arn(inHorizontal)">
                                      <p:cBhvr>
                                        <p:cTn id="2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65"/>
          <p:cNvSpPr txBox="1">
            <a:spLocks noChangeArrowheads="1"/>
          </p:cNvSpPr>
          <p:nvPr>
            <p:custDataLst>
              <p:tags r:id="rId1"/>
            </p:custDataLst>
          </p:nvPr>
        </p:nvSpPr>
        <p:spPr bwMode="auto">
          <a:xfrm>
            <a:off x="5151120" y="1443990"/>
            <a:ext cx="7040880"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latinLnBrk="1" hangingPunct="1"/>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如何隐藏外界模型的图标，简化和</a:t>
            </a:r>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优化对话</a:t>
            </a:r>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界面？</a:t>
            </a:r>
            <a:endPar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7" name="矩形 16"/>
          <p:cNvSpPr/>
          <p:nvPr/>
        </p:nvSpPr>
        <p:spPr>
          <a:xfrm>
            <a:off x="5191761" y="290117"/>
            <a:ext cx="1808480" cy="583565"/>
          </a:xfrm>
          <a:prstGeom prst="rect">
            <a:avLst/>
          </a:prstGeom>
        </p:spPr>
        <p:txBody>
          <a:bodyPr wrap="none">
            <a:spAutoFit/>
          </a:bodyPr>
          <a:lstStyle/>
          <a:p>
            <a:pPr algn="ctr"/>
            <a:r>
              <a:rPr lang="zh-CN" altLang="en-US" sz="3200" dirty="0"/>
              <a:t>我的问题</a:t>
            </a:r>
            <a:endParaRPr lang="zh-CN" altLang="en-US" sz="3200" dirty="0"/>
          </a:p>
        </p:txBody>
      </p:sp>
      <p:pic>
        <p:nvPicPr>
          <p:cNvPr id="3" name="图片 2"/>
          <p:cNvPicPr/>
          <p:nvPr/>
        </p:nvPicPr>
        <p:blipFill>
          <a:blip r:embed="rId2"/>
          <a:stretch>
            <a:fillRect/>
          </a:stretch>
        </p:blipFill>
        <p:spPr>
          <a:xfrm>
            <a:off x="240030" y="1736090"/>
            <a:ext cx="3990975" cy="2656205"/>
          </a:xfrm>
          <a:prstGeom prst="rect">
            <a:avLst/>
          </a:prstGeom>
        </p:spPr>
      </p:pic>
      <p:sp>
        <p:nvSpPr>
          <p:cNvPr id="6" name="Text Box 65"/>
          <p:cNvSpPr txBox="1">
            <a:spLocks noChangeArrowheads="1"/>
          </p:cNvSpPr>
          <p:nvPr>
            <p:custDataLst>
              <p:tags r:id="rId3"/>
            </p:custDataLst>
          </p:nvPr>
        </p:nvSpPr>
        <p:spPr bwMode="auto">
          <a:xfrm>
            <a:off x="4818380" y="3576320"/>
            <a:ext cx="7040880"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latinLnBrk="1" hangingPunct="1"/>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如何收集问答库中的数据（形式）？</a:t>
            </a:r>
            <a:endPar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8" name="Text Box 65"/>
          <p:cNvSpPr txBox="1">
            <a:spLocks noChangeArrowheads="1"/>
          </p:cNvSpPr>
          <p:nvPr>
            <p:custDataLst>
              <p:tags r:id="rId4"/>
            </p:custDataLst>
          </p:nvPr>
        </p:nvSpPr>
        <p:spPr bwMode="auto">
          <a:xfrm>
            <a:off x="4730115" y="2474595"/>
            <a:ext cx="7040880"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latinLnBrk="1" hangingPunct="1"/>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对语言模型的知识库扩充什么类型的</a:t>
            </a:r>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内容？</a:t>
            </a:r>
            <a:endPar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10" name="Text Box 65"/>
          <p:cNvSpPr txBox="1">
            <a:spLocks noChangeArrowheads="1"/>
          </p:cNvSpPr>
          <p:nvPr>
            <p:custDataLst>
              <p:tags r:id="rId5"/>
            </p:custDataLst>
          </p:nvPr>
        </p:nvSpPr>
        <p:spPr bwMode="auto">
          <a:xfrm>
            <a:off x="5191760" y="4834890"/>
            <a:ext cx="7040880"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eaLnBrk="1" latinLnBrk="1" hangingPunct="1"/>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是否继续离散数学</a:t>
            </a:r>
            <a:r>
              <a:rPr lang="en-US" altLang="zh-CN" sz="2400" dirty="0">
                <a:latin typeface="Century Gothic" panose="020B0502020202020204" pitchFamily="34" charset="0"/>
                <a:ea typeface="思源黑体 CN Normal" panose="020B0400000000000000" pitchFamily="34" charset="-122"/>
                <a:sym typeface="Century Gothic" panose="020B0502020202020204" pitchFamily="34" charset="0"/>
              </a:rPr>
              <a:t>Ⅱ</a:t>
            </a:r>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的知识图谱整理？（缺少助教身份无法</a:t>
            </a:r>
            <a:r>
              <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rPr>
              <a:t>进行）</a:t>
            </a:r>
            <a:endParaRPr kumimoji="1" lang="zh-CN" altLang="en-US" sz="2400" dirty="0">
              <a:solidFill>
                <a:schemeClr val="tx1"/>
              </a:solidFill>
              <a:effectLst>
                <a:outerShdw blurRad="38100" dist="19050" dir="2700000" algn="tl" rotWithShape="0">
                  <a:schemeClr val="dk1">
                    <a:alpha val="40000"/>
                    <a:alpha val="40000"/>
                  </a:schemeClr>
                </a:outerShdw>
              </a:effectLst>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30" name="矩形: 圆角 9"/>
          <p:cNvSpPr/>
          <p:nvPr>
            <p:custDataLst>
              <p:tags r:id="rId6"/>
            </p:custDataLst>
          </p:nvPr>
        </p:nvSpPr>
        <p:spPr>
          <a:xfrm>
            <a:off x="4575175" y="1532255"/>
            <a:ext cx="425450" cy="31686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01</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2" name="矩形: 圆角 9"/>
          <p:cNvSpPr/>
          <p:nvPr>
            <p:custDataLst>
              <p:tags r:id="rId7"/>
            </p:custDataLst>
          </p:nvPr>
        </p:nvSpPr>
        <p:spPr>
          <a:xfrm>
            <a:off x="4575444" y="2546904"/>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02</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9" name="矩形: 圆角 9"/>
          <p:cNvSpPr/>
          <p:nvPr>
            <p:custDataLst>
              <p:tags r:id="rId8"/>
            </p:custDataLst>
          </p:nvPr>
        </p:nvSpPr>
        <p:spPr>
          <a:xfrm>
            <a:off x="4575444" y="3724829"/>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03</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
        <p:nvSpPr>
          <p:cNvPr id="4" name="矩形: 圆角 9"/>
          <p:cNvSpPr/>
          <p:nvPr>
            <p:custDataLst>
              <p:tags r:id="rId9"/>
            </p:custDataLst>
          </p:nvPr>
        </p:nvSpPr>
        <p:spPr>
          <a:xfrm>
            <a:off x="4575444" y="4936409"/>
            <a:ext cx="425380" cy="33159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p>
            <a:pPr algn="ctr"/>
            <a:r>
              <a:rPr lang="en-US" altLang="zh-CN" dirty="0" smtClean="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rPr>
              <a:t>04</a:t>
            </a:r>
            <a:endParaRPr lang="zh-CN" altLang="en-US" dirty="0">
              <a:solidFill>
                <a:schemeClr val="accent1"/>
              </a:solidFill>
              <a:latin typeface="Century Gothic" panose="020B0502020202020204" pitchFamily="34" charset="0"/>
              <a:ea typeface="思源黑体 CN Normal" panose="020B0400000000000000" pitchFamily="34" charset="-122"/>
              <a:cs typeface="+mn-ea"/>
              <a:sym typeface="Century Gothic" panose="020B0502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6" grpId="0"/>
      <p:bldP spid="6" grpId="1"/>
      <p:bldP spid="8" grpId="0"/>
      <p:bldP spid="8" grpId="1"/>
      <p:bldP spid="10" grpId="0"/>
      <p:bldP spid="1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矩形 16"/>
          <p:cNvSpPr/>
          <p:nvPr/>
        </p:nvSpPr>
        <p:spPr>
          <a:xfrm>
            <a:off x="5191761" y="290117"/>
            <a:ext cx="1808480" cy="583565"/>
          </a:xfrm>
          <a:prstGeom prst="rect">
            <a:avLst/>
          </a:prstGeom>
        </p:spPr>
        <p:txBody>
          <a:bodyPr wrap="none">
            <a:spAutoFit/>
          </a:bodyPr>
          <a:p>
            <a:pPr algn="ctr"/>
            <a:r>
              <a:rPr lang="zh-CN" altLang="en-US" sz="3200" dirty="0"/>
              <a:t>我的问题</a:t>
            </a:r>
            <a:endParaRPr lang="zh-CN" altLang="en-US" sz="3200" dirty="0"/>
          </a:p>
        </p:txBody>
      </p:sp>
      <p:pic>
        <p:nvPicPr>
          <p:cNvPr id="2" name="图片 1" descr="微信图片_20241209194710"/>
          <p:cNvPicPr>
            <a:picLocks noChangeAspect="1"/>
          </p:cNvPicPr>
          <p:nvPr/>
        </p:nvPicPr>
        <p:blipFill>
          <a:blip r:embed="rId1"/>
          <a:stretch>
            <a:fillRect/>
          </a:stretch>
        </p:blipFill>
        <p:spPr>
          <a:xfrm>
            <a:off x="2124075" y="1571625"/>
            <a:ext cx="7943850" cy="42748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61535" y="-415636"/>
            <a:ext cx="11194026" cy="55279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entury Gothic" panose="020B0502020202020204" pitchFamily="34" charset="0"/>
              <a:ea typeface="思源黑体 CN Normal" panose="020B0400000000000000" pitchFamily="34" charset="-122"/>
              <a:sym typeface="Century Gothic" panose="020B0502020202020204" pitchFamily="34" charset="0"/>
            </a:endParaRPr>
          </a:p>
        </p:txBody>
      </p:sp>
      <p:sp>
        <p:nvSpPr>
          <p:cNvPr id="9" name="矩形 8"/>
          <p:cNvSpPr/>
          <p:nvPr/>
        </p:nvSpPr>
        <p:spPr>
          <a:xfrm>
            <a:off x="-2140527" y="1849582"/>
            <a:ext cx="12115800" cy="58812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80865" y="2644775"/>
            <a:ext cx="4064000" cy="1568450"/>
          </a:xfrm>
          <a:prstGeom prst="rect">
            <a:avLst/>
          </a:prstGeom>
          <a:noFill/>
        </p:spPr>
        <p:txBody>
          <a:bodyPr wrap="square" rtlCol="0">
            <a:spAutoFit/>
            <a:scene3d>
              <a:camera prst="orthographicFront"/>
              <a:lightRig rig="threePt" dir="t"/>
            </a:scene3d>
          </a:bodyPr>
          <a:p>
            <a:r>
              <a:rPr lang="zh-CN" altLang="en-US" sz="9600" i="1">
                <a:solidFill>
                  <a:schemeClr val="bg2">
                    <a:lumMod val="50000"/>
                  </a:schemeClr>
                </a:solidFill>
                <a:effectLst>
                  <a:outerShdw blurRad="38100" dist="38100" dir="2700000" algn="tl">
                    <a:srgbClr val="000000">
                      <a:alpha val="43137"/>
                    </a:srgbClr>
                  </a:outerShdw>
                </a:effectLst>
              </a:rPr>
              <a:t>谢谢</a:t>
            </a:r>
            <a:endParaRPr lang="zh-CN" altLang="en-US" sz="9600" i="1">
              <a:solidFill>
                <a:schemeClr val="bg2">
                  <a:lumMod val="50000"/>
                </a:schemeClr>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linds(horizontal)">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tags/tag1.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2.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3.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4.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5.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6.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7.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8.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9.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10.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11.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12.xml><?xml version="1.0" encoding="utf-8"?>
<p:tagLst xmlns:p="http://schemas.openxmlformats.org/presentationml/2006/main">
  <p:tag name="KSO_WM_DIAGRAM_VIRTUALLY_FRAME" val="{&quot;height&quot;:101.41826771653541,&quot;left&quot;:213.74377952755904,&quot;top&quot;:340.3223622047244,&quot;width&quot;:698.285590551181}"/>
</p:tagLst>
</file>

<file path=ppt/tags/tag13.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14.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15.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16.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17.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18.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19.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20.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21.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22.xml><?xml version="1.0" encoding="utf-8"?>
<p:tagLst xmlns:p="http://schemas.openxmlformats.org/presentationml/2006/main">
  <p:tag name="KSO_WM_DIAGRAM_VIRTUALLY_FRAME" val="{&quot;height&quot;:406.1651181102362,&quot;left&quot;:113.8,&quot;top&quot;:86.55,&quot;width&quot;:919.85}"/>
</p:tagLst>
</file>

<file path=ppt/tags/tag23.xml><?xml version="1.0" encoding="utf-8"?>
<p:tagLst xmlns:p="http://schemas.openxmlformats.org/presentationml/2006/main">
  <p:tag name="KSO_WM_DIAGRAM_VIRTUALLY_FRAME" val="{&quot;height&quot;:406.1651181102362,&quot;left&quot;:113.8,&quot;top&quot;:86.55,&quot;width&quot;:919.85}"/>
</p:tagLst>
</file>

<file path=ppt/tags/tag24.xml><?xml version="1.0" encoding="utf-8"?>
<p:tagLst xmlns:p="http://schemas.openxmlformats.org/presentationml/2006/main">
  <p:tag name="KSO_WM_DIAGRAM_VIRTUALLY_FRAME" val="{&quot;height&quot;:406.1651181102362,&quot;left&quot;:113.8,&quot;top&quot;:86.55,&quot;width&quot;:919.85}"/>
</p:tagLst>
</file>

<file path=ppt/tags/tag25.xml><?xml version="1.0" encoding="utf-8"?>
<p:tagLst xmlns:p="http://schemas.openxmlformats.org/presentationml/2006/main">
  <p:tag name="KSO_WM_DIAGRAM_VIRTUALLY_FRAME" val="{&quot;height&quot;:406.1651181102362,&quot;left&quot;:113.8,&quot;top&quot;:86.55,&quot;width&quot;:919.85}"/>
</p:tagLst>
</file>

<file path=ppt/tags/tag26.xml><?xml version="1.0" encoding="utf-8"?>
<p:tagLst xmlns:p="http://schemas.openxmlformats.org/presentationml/2006/main">
  <p:tag name="KSO_WM_DIAGRAM_VIRTUALLY_FRAME" val="{&quot;height&quot;:406.1651181102362,&quot;left&quot;:113.8,&quot;top&quot;:86.55,&quot;width&quot;:919.85}"/>
</p:tagLst>
</file>

<file path=ppt/tags/tag27.xml><?xml version="1.0" encoding="utf-8"?>
<p:tagLst xmlns:p="http://schemas.openxmlformats.org/presentationml/2006/main">
  <p:tag name="KSO_WM_DIAGRAM_VIRTUALLY_FRAME" val="{&quot;height&quot;:406.1651181102362,&quot;left&quot;:113.8,&quot;top&quot;:86.55,&quot;width&quot;:919.85}"/>
</p:tagLst>
</file>

<file path=ppt/tags/tag28.xml><?xml version="1.0" encoding="utf-8"?>
<p:tagLst xmlns:p="http://schemas.openxmlformats.org/presentationml/2006/main">
  <p:tag name="KSO_WM_DIAGRAM_VIRTUALLY_FRAME" val="{&quot;height&quot;:406.1651181102362,&quot;left&quot;:113.8,&quot;top&quot;:86.55,&quot;width&quot;:919.85}"/>
</p:tagLst>
</file>

<file path=ppt/tags/tag29.xml><?xml version="1.0" encoding="utf-8"?>
<p:tagLst xmlns:p="http://schemas.openxmlformats.org/presentationml/2006/main">
  <p:tag name="KSO_WM_DIAGRAM_VIRTUALLY_FRAME" val="{&quot;height&quot;:406.1651181102362,&quot;left&quot;:113.8,&quot;top&quot;:86.55,&quot;width&quot;:805.6725984251968}"/>
</p:tagLst>
</file>

<file path=ppt/tags/tag30.xml><?xml version="1.0" encoding="utf-8"?>
<p:tagLst xmlns:p="http://schemas.openxmlformats.org/presentationml/2006/main">
  <p:tag name="KSO_WM_DIAGRAM_VIRTUALLY_FRAME" val="{&quot;height&quot;:406.1651181102362,&quot;left&quot;:113.8,&quot;top&quot;:86.55,&quot;width&quot;:919.85}"/>
</p:tagLst>
</file>

<file path=ppt/tags/tag31.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2.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3.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4.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5.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6.xml><?xml version="1.0" encoding="utf-8"?>
<p:tagLst xmlns:p="http://schemas.openxmlformats.org/presentationml/2006/main">
  <p:tag name="KSO_WM_DIAGRAM_VIRTUALLY_FRAME" val="{&quot;height&quot;:273.7555905511811,&quot;left&quot;:545.8704724409448,&quot;top&quot;:226.74267716535434,&quot;width&quot;:378.7009448818897}"/>
</p:tagLst>
</file>

<file path=ppt/tags/tag37.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8.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39.xml><?xml version="1.0" encoding="utf-8"?>
<p:tagLst xmlns:p="http://schemas.openxmlformats.org/presentationml/2006/main">
  <p:tag name="KSO_WM_DIAGRAM_VIRTUALLY_FRAME" val="{&quot;height&quot;:364.0214173228346,&quot;left&quot;:487.12118110236224,&quot;top&quot;:128.69370078740155,&quot;width&quot;:432.35141732283466}"/>
</p:tagLst>
</file>

<file path=ppt/tags/tag40.xml><?xml version="1.0" encoding="utf-8"?>
<p:tagLst xmlns:p="http://schemas.openxmlformats.org/presentationml/2006/main">
  <p:tag name="KSO_WM_DIAGRAM_VIRTUALLY_FRAME" val="{&quot;height&quot;:406.1651181102362,&quot;left&quot;:113.8,&quot;top&quot;:86.55,&quot;width&quot;:919.85}"/>
</p:tagLst>
</file>

<file path=ppt/tags/tag41.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42.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43.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44.xml><?xml version="1.0" encoding="utf-8"?>
<p:tagLst xmlns:p="http://schemas.openxmlformats.org/presentationml/2006/main">
  <p:tag name="KSO_WM_DIAGRAM_VIRTUALLY_FRAME" val="{&quot;height&quot;:239.14393700787414,&quot;left&quot;:32.12307086614173,&quot;top&quot;:180.40637795275592,&quot;width&quot;:900.5538582677167}"/>
</p:tagLst>
</file>

<file path=ppt/tags/tag45.xml><?xml version="1.0" encoding="utf-8"?>
<p:tagLst xmlns:p="http://schemas.openxmlformats.org/presentationml/2006/main">
  <p:tag name="KSO_WM_DIAGRAM_VIRTUALLY_FRAME" val="{&quot;height&quot;:406.1651181102362,&quot;left&quot;:113.8,&quot;top&quot;:86.55,&quot;width&quot;:919.85}"/>
</p:tagLst>
</file>

<file path=ppt/tags/tag46.xml><?xml version="1.0" encoding="utf-8"?>
<p:tagLst xmlns:p="http://schemas.openxmlformats.org/presentationml/2006/main">
  <p:tag name="KSO_WM_DIAGRAM_VIRTUALLY_FRAME" val="{&quot;height&quot;:406.1651181102362,&quot;left&quot;:113.8,&quot;top&quot;:86.55,&quot;width&quot;:919.85}"/>
</p:tagLst>
</file>

<file path=ppt/tags/tag47.xml><?xml version="1.0" encoding="utf-8"?>
<p:tagLst xmlns:p="http://schemas.openxmlformats.org/presentationml/2006/main">
  <p:tag name="KSO_WM_DIAGRAM_VIRTUALLY_FRAME" val="{&quot;height&quot;:406.1651181102362,&quot;left&quot;:113.8,&quot;top&quot;:86.55,&quot;width&quot;:919.85}"/>
</p:tagLst>
</file>

<file path=ppt/tags/tag48.xml><?xml version="1.0" encoding="utf-8"?>
<p:tagLst xmlns:p="http://schemas.openxmlformats.org/presentationml/2006/main">
  <p:tag name="KSO_WM_DIAGRAM_VIRTUALLY_FRAME" val="{&quot;height&quot;:406.1651181102362,&quot;left&quot;:113.8,&quot;top&quot;:86.55,&quot;width&quot;:919.85}"/>
</p:tagLst>
</file>

<file path=ppt/tags/tag49.xml><?xml version="1.0" encoding="utf-8"?>
<p:tagLst xmlns:p="http://schemas.openxmlformats.org/presentationml/2006/main">
  <p:tag name="ISPRING_ULTRA_SCORM_COURSE_ID" val="67271D64-3971-421C-92CD-202738286780"/>
  <p:tag name="ISPRING_SCORM_RATE_SLIDES" val="1"/>
  <p:tag name="ISPRINGONLINEFOLDERID" val="0"/>
  <p:tag name="ISPRINGONLINEFOLDERPATH" val="Content List"/>
  <p:tag name="ISPRINGCLOUDFOLDERID" val="0"/>
  <p:tag name="ISPRINGCLOUDFOLDERPATH" val="Repository"/>
  <p:tag name="ISPRING_PLAYERS_CUSTOMIZATION" val="UEsDBBQAAgAIAOgQ40g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DoEONIeEoGHCgDAACGDAAAJwAAAHVuaXZlcnNhbC9mbGFzaF9wdWJsaXNoaW5nX3NldHRpbmdzLnhtbNVX3W7aMBS+5yksT70saTu6diihmgpoVVtAhW3tVWViQ6w6dhbbUHq1p9mD7Ul2HAMFtevSH6QNCRGfn+/8n5jw6DYVaMJyzZWM8G51ByMmY0W5HEf4y6C9fYiRNkRSIpRkEZYKo6NGJczsUHCd9JkxIKoRwEhdz0yEE2OyehBMp9Mq11nuuEpYA/i6Gqs0yHKmmTQsDzJBZvBjZhnTeI5QAgC+qZJztUalglDokc4VtYIhTsFzyV1QRLQF0QkOvNiQxDfjXFlJj5VQOcrHwwi/axefhYyHavKUSZcT3QCiI5s6oZQ7L4jo8zuGEsbHCbh7UMNoyqlJIrxXcyggHTxEKbB96MShHCvIgTRz+JQZQokh/ujtGXZr9ILgSXQmScrjAXCQiz/CzcH156te6+LspHN6Peh2zwYnPe9EoROs44TBuqEQHFI2j9nSTkiMIXECfoPOiAjNwmCVtBAbKbnmnDujoRKQ+0IL2igdMtohKVupRv+GyzZI7mI0gkDELMKfck4ERtwQweOlsrZDbbgpqt5elUSABe3J0Hkf35v32YkTkmu26taCo13O48Y3ZQVFM2WR4DcMGYUgfpvCU8LQanHQKFdpQYX2MUgLDhYnnE0ZPSpyOgf8k6ErMJFa0IRezQQz3sJ3y+/QkI1UDriMTKCzgc61x68+CzgjWt+DkoWPW/2zk2br+qTTbF1uuQAJnRAZPxMcCs7SzGwEn8yQVGahB+mIidWsKArltOCVia368jJonlrhy/zWxViB3mBJNmPlOYX5qwelzSZkUgyiG64CGkaQQ0k8JjBiWBdcWlYWMCYSKSlmiMSw1rQb6wlXVgPFD7CH1i/30OsjLovTGFYbWMwpy0tB7uzuva/tfzg4/FivBr9+/Nx+Umm+8HuCOHN+4x8/ufKXa//hNgwDt6UfX9omt//mzu5dtL6WyWundTkoVdJWvxRct4xU97SM1IV/yfRWXjClXIClNPZDBmtJ8JQbRt+yxV7QJq96t/se20ybbDDm14zGfxOyPy2viWv3wjB49OLqOCmXPIVEuJW4vO029ms7cNN8lFWpANr6f4dG5TdQSwMEFAACAAgA6BDjSCkiHkG1AgAAUwoAACEAAAB1bml2ZXJzYWwvZmxhc2hfc2tpbl9zZXR0aW5ncy54bWyVVm1v2yAQ/r5fEWXf6+41m0QjtWkmVerWaq36HdsXGwVDBOd0+fcDDDUkceIGVQrPPQ93HHeXEr1mYv5hMiGF5FI9ASITlbZIwCasvJrmLaIUF4UUCAIvhFQN5dP5x1/uQzLHPKeSW1BjNStaQO9m5j5jJN7Ht5ldQ4JCNhsqdveykhc5LdaVkq0oz4ZW7zagOBNrw7z8OVssBx1wpvEOoUliWv6wa5xko0BrsCF9X9p1VsVpDjx4unSfkZre1enb78m2TDN0sutPdg3JNrSC9yTZPIw5PRXM7DotQPiHhvrls12DVE53oNLDb7/aNaiQm3bzrvCVrGxCU83pR3zTcElL0342qku7zgrshayjs6/g0+PuehuR/Ne474ltVyX5o83r3kCwj55zmKNqgWRh19l0LV8fWjT9AfMV5doQYqgnPZqgH2mrwzEp1vP+wisTZUTyQM94kbxtYNHFGxFTvOcvFjduVMTxvWFRgAq2Howi7MGe+cek9YAZgT3zibMSHgTfHdD3LZ0mPPEN9Y95OvvGCoKabchX2AWr9XRvG1dHrj0QOI0sYa5tOM+sAftqJHNYF1J2EBMRdMsqikyK35aX79xlNMn2DL7SjtcVQYYcjpWbi9EM6fi93D6tRm9Ny7H7Uegv1+0naGb41ZQi0qJuzI+Snk68zjSJScw0O66wU9LQQd2JlYw0zveQqKFqDepZSj7WjZAIeuzxsmutITrJohyQ7HiWiT/kWPpF2+SglubVGOiQ5RTsiDWram7+8IXBK5R7igFrJ8XanCcoe6vLCPBFAFQVdajabtNZmpYj47CF0PsR4K48dDeiTZUOFdw13sMK45LzyKia9KOir5V0hET4Ef6LCSs5eM8youyR5trdLOn8MIT7WJKxHKaZLb54kLm9r6XkYGM/zKAB7T+T/wFQSwMEFAACAAgA6BDjSJNBNSb9AgAAlwsAACYAAAB1bml2ZXJzYWwvaHRtbF9wdWJsaXNoaW5nX3NldHRpbmdzLnhtbM2W3VIaMRSA73mKTDpeyqq11TK7OB3B0akVRmirV07YBDZjNtnmB8SrPk0frE/Skw0gjJaujnTKDAM5yfnOX3KS+OguF2jMtOFKJni3voMRk6miXI4S/KV/sn2IkbFEUiKUZAmWCqOjZi0u3EBwk/WYtbDUIMBI0yhsgjNri0YUTSaTOjeF9rNKOAt8U09VHhWaGSYt01EhyBR+7LRgBs8IFQDwzZWcqTVrNYTiQPqsqBMMcQqeS+6DIuLU5gJHYdWApLcjrZykx0oojfRokOA3J+VnviaQWjxn0qfENEHoxbZBKOXeCSJ6/J6hjPFRBt4e7GM04dRmCd7b9xRYHT2mlOwQOfGUYwUpkHaGz5kllFgShsGeZXfWzAVBRKeS5Dztwwzy4Se41b85ve62L8/PLj7d9Dud8/5ZNzhR6kSrnDhaNRSDQ8rplC3sxMRakmbgN+gMiTAsjpZF82VDJVec82M0UAJSX2phNARPxTTBHzUnAiNuieDpYtYSPWL2hAuIwevu1ofS4gdgiDfNiDZs2dB8xvgsps1vygmKpsohwW8ZsgpBRC6HfxlDy+lGQ63yUiqIscgIThkaczZh9KjM0gz4J0PXYCJ3oAmbrxDMBgvfHb9HAzZUGriMjGGrgpybwK8/C1wQYx6gZO7jVu/8rNW+Obtota+2fICEjolMnwmHErK8sBvhkymSys71IB0pcYaVRaGclnNVYqu/vAyG506EMr92MZbQGyzJZqw8pzB/9aCy2YyMy4PoD1eJhiPIoSSBCRMpHHcuHasKTIlESoopIik0KuOP9ZgrZ0ASDnBAm5d7GPQRl+VoBDcHWNSU6UrInd29t/vv3h8cfmjUo18/fm6vVZq18K4g3lzo4cdrm/iikT/uhnHke+fTbdhq96+6cPey/bVKpi7aV/1KRWr3KuE6VVZ1PlVZdRmuje7SlVHJBWgzo3BsoNEInnPL6GtumhcUfv39G7bFKxV+g1Gs3b7/bxBhtHhurbyv4ujJB2AN5KuP6WbtN1BLAwQUAAIACADoEONIKshEQpQBAAAdBgAAHwAAAHVuaXZlcnNhbC9odG1sX3NraW5fc2V0dGluZ3MuanONlMtuwjAQRfd8ReRuK0SfaburCpUqsahUdlUXThhChGNHtpOSIv69HgMldpyCZ4MvhzsP5NkMInNISqKnaGM/2/u7e7caoKZlBZeuznr0AnWiWD6HWV4AyzkQD6kPP/2Tt0ciZEy4NU2aD7RVLT8i8JsFZaqNlwELGdBUQKsD2ndAW4cS/zid7bvaddQac1JpLfgwFVwD10MuZEEtQy5e7Wk36MGiBnkCXdAUHNPYnj7y6HgXY7S5VBQl5c1UZGKY0HSVSVHxeV/+ZVOCNH/4ageMHuOXiWPHcqXfNBR+4skDRj9ZSlAK9nnvJxhBmNEEWMt3ZM8/qGPcbcij61zl+kA/X2G06ZJmcMaUzECNV4eLMbqchrXeETfXGA7BaAOyYzW+xXBAUVblOaVJkeFEOmh35n8oE3Se82yfeoQR5LBYtO2b3rFRW/6YOE9IeE9oGXp9Rd/m8MHQu9fBp6u8vNOQHQuJPJBDBLSybwdZQ6cY7e8RvH9GhGpN02Vh1oNZjWYMVK5AzoRgpvqvU3X6uQbbX1BLAwQUAAIACACTuC1JPTwv0cEAAADlAQAAGgAAAHVuaXZlcnNhbC9pMThuX3ByZXNldHMueG1snZGxCsIwEIb3PkW43cRupSR1E9wcdJaaphppLyWXWh/flIp0kYBDIP/xfT8kJ3evvmNP48k6VJDzLTCD2jUWbwrOp/2mAEahxqbuHBoF6IDtqkzavMCjN2QCsViBpOAewlAKMU0TtzT42ECuG0MsJq5dL+LpHYrZFMOiwuKW9i/7M4MqyxiT19F24YBVvMe0IIy8VjA7F43cYutA/AIakwBMqsFQAmh9AngMCcCPK0CK75vnpEcK8aNikGK1nip7A1BLAwQUAAIACACTuC1JsO1dV24AAAB2AAAAHAAAAHVuaXZlcnNhbC9sb2NhbF9zZXR0aW5ncy54bWwNzD0OwjAMQOG9p7C8l5+NoWk3NhAS5QBWY1Akx0aJheD2eHvDpzct3yrw4daLacLj7oDAulku+kr4WM/jCaE7aSYx5YRqCMs8TGIbyZ3dA3Z4C/24rVwjnK9UQ94ad1YnjzOMcInns3DG/Tz8AV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CTuC1JF6nhQW8BAAD7AgAAKQAAAHVuaXZlcnNhbC9za2luX2N1c3RvbWl6YXRpb25fc2V0dGluZ3MueG1sjVLbatwwEH3PV4j8wEoa3Qzugm4ufklCspBnd60W00QulkJL0cdXTrJsttnQap5mzpkzzOi06fsU7VPK8+P0e8jTHO9CzlP8lrYXCLX7+WFebpaQQk6bY+V+iuP8s49f57VWqykPcRyW0a5o2mLUPT+kpFZO1YwZRpFknnqFnOe2Yg24BmzFHCW23fwl8aK7hH2I+bxquzlB3zf0MYUl93EMv7Zwyn4LnW7weRnGqfLSVrA1ymFqcWwNxAiX3BeqAUAgyx1xuEjZSE2Qx4xjKEZRoIAI56QRhUjKoWZdI6oK841ATDJGXaGe1m6ktXHUFgkNIbpO86qxpeuMxBgRQoC5wgV0BqPKhqqhQa0HBAcGRNFGEwWos53pWPHOC8uRol5gXJgxgPHxuMft3p7rWP3vdQ7n/Ifg2S84i67e2pwxV7t/WpZK3oXHHw9DDujLkEI/frq8ufV3/mqnd/311eWrN599fGCuhq2bf+jvP1BLAwQUAAIACACUuC1JHJprY8cOAACQGwAAFwAAAHVuaXZlcnNhbC91bml2ZXJzYWwucG5n7Vl7WJJ337/VylZpNNsszx322LOcztQyTdRlmU9qK13OI5WZ4QHTRMQD2LYn3dLYVkF5wMrCM8xMUfDUKqlpUiqS0S0VIcmtqDFEQOC9se169+/773v5x31xfz/A9/f5nr/3df/4dWig2SqrVQAAmAUdCDgCACYIADD+YeUKGKHgX9rAH0ZnjwR+BdAHbCZgYVmif4g/ADSRVi8cXw7LH505EHkWAMzvGy4jTlrNSQCw/iwowD88O24K5F7YKrblzGrLFkzem779/K1D3IOyA3tqr/98LOBXm4Dl/us/VdwKePBqX8DTvR+HI9avCwjonDdZxi97VpP53lb+zq1FKNP92X+XPST/PNu1OfabWNAD5HHZrMS5waTSLtV4Ga+6ksBSz4tIpA7lWC4A9Cx3y7n+4rrVcSrBvIjrq++I3QgAbc/rPunNXI+IoMegLZcBwDbemkCjWRAnbFkNW9BfZ+vMk5SyrsH3zUmFB+3zZvy9LQDg2NGpM7VlRgDwdB3sEr9gP/h7VyNYfrAM1oGwWAKXwCVwCVwCl8AlcAlcApfAJfD/N+is1Qj1cfDd1v+jIu/DfnlaBb+eEpeDVjyPJzXqFiS+DFmXRgaFgnRWPtYbmstSmgAFlf0iNiYFGzc85eLSMfN7aHxPVOvIRgjHz4choWRDtqRg/s0Fl6PEBZG9wDq3s04QzWSzfQHAEnSszMsAqeuRJVYmI/mQTN5A3p0mEgRogy9puusrTN5cS6Si014p6BgcjhgKqSSVvoNPolnwY1OEPXFh9huKHkLpo3zU76oCqTnS2vrxZt9pmB9XoxNTUMidabr24Qx5R6S2vzcDRVCJm/Ci939KWDLXjE8Fz1tfonTvKSVK+d1xt+jE2c3YQdxG0LxAJN0KRdoU0iMOIVUnc7sTW4KZsk01lVORlQeEux0Gkit4UzIZFz3sN3neGuNpdRkrp2A6FSP1zvXzNX3Jv0URNAKhXX6sM4cw3MU4U5NP4NjiFmzWeRyw973wni3UYlIXeDmKlpFGcW9HTszw9Y7xkmkJ1huMf+vU2oRuZzGwWsW3dJU8JzFBOB0zgnU0DWSavGrzej3zdO/aFs6vewdBZSRzYFNt5WwkNebFbgeWNTYuUym5ldTzjUm7OsrkDuZapBmSfS+2Ip1qmoqNfaxIz2kRSu5lV+QzTtdMU76f/OmhOpKn/CRflLjT+KRTBKlw9mK42SMJbjVBXia8u25HQ25xeaY11r5XWUau1+yx42pWFaFEFX1vY/cbqOTw73iftymVdXFZWPMQbQNbQ/jY+M0PvYE+g0ZEMz+J/yuvsXPzimHuSVVz/bms/Njzsfm+Y7Y1/roNPXy/PKewXtGNFZI+nIVUWEZohey2OIL781GkodS+kp+vungna/YIkMM7Wancl+YFqOFEEVvE2SSV6RuiJU+Hod8jtcgfCjxvu16Fxp9I10znrWgL+34knVymhQhZWxzI30+oCbtXusSrjsckMhdajdQsziM08xdn5tRcxX5l3stCjKAZU5H/rtUHGhmFBeA2ciDjUbfyt+Gp7w1urSPtwCqJEcZvLvceo5ftijZ/dcrjdIPqzWs+TztJT/DL5KOWBdAFcw3RifYwRRZ2JIQIR/yF2AJsNfpjk37wTLXAFD5h7zfEulaBKRuBqHZfcRbsuIEkw4H5qVA9iVeO4ubqkefdAwUL3gisav7qkWtE0xNH+0gk4Mqs5iPsaBv9+NC0X0pOcXmW9UQG38uBSlBP8HKnO5lwopNC95yW/c0ePgjjFbLnMmwHo1uXk9vveRIkXMVCNneYQgIbXFub/Cmi798VOCtQu7txq8Pn5iNafL/V5YuoOFuyifdc1dxZs1scLo3w6ZaPkwrifCmrOtbht2yTQhtOc6FhRb+J3OouF3IynW1OJf1yKaXKjsJ+SU7+BLHWd2FG2sxFavTN2uqJKxFxaApIW/RJGZZ5myZ7P5iaO9LYXB7KWnsKbD13IVVIXC7L4U1dMHi4ntOD1kVVwjG0Ki45N+oF271GVHXwoIBOag7TsJCbw/d/WYz3OG0vlzbo2/J0n0nXWca3qxJ3rdBg8fmguyejMheH3z2xU+oVeHkrMyHsQflRZZ4TFmBniP/QV07UV02zcQ5xebMPq/BYFc2ya9FN2CRvbHSSdJzB7sgUULGQU3Val2p8G52VEGZgOOVOvNMSmuLEY3PiCZ0X++XS59p5EQmFdSqjXOO5EmICleYpsRFP6hl9eEGm5gRsXQhIZpHkCaKdI9oaIh++cEmEqW41YYx0m850ZvBv4ituX5q88Nq9e+0mh4JOiEpKWPM0uc7kODO4lrTzyVB0WifPnM5O5ZL7GGGmb616SGjqLp1PV9ZiWvWGK1ODsdY7lw/tNPCrR2rGbLcfgWiuRfR4Cav2okhAr46zSNJ56pxJRBEodfUU7mP6ngK9BMVouwf85NG80QUvZnkSoZPMc7ef3v6vJCtN/NDdiRa39EFhIQLRM4blcry2u9Gs3HF9ayCa+FyzYC4lLgs9dDcGo3sxYciwWnR5epkypPMY1X0zK9XEckgz3S20c8w6PLRhmLyqUHVnHULe1L5CI6oYd51hoLuot9M3JyDZKGgknPMAPxrOPLTIp1YmbEuJ9StWVTSFgtNeY6SCqPODz7vL5sCg4fgqgWPZypXHplkSUXbEDfOOshWPRMH9V6U9UaYC2Zpw5tRohmqUhu6f/ssv5DQ+P7KWxRDfsk+QtprFBCfORlCSoszjOGxjRb4lQmyvn+c8E8d/HTtE85/x3O7L+b3oirhpB2/qEpx8O+XuMnmQ8c1irScZJbt/h1FQw9nPPLRz3Qd/uPJWH9xFvOo7GDZEaz4EtiaCXvf/cbaXYnPOYPY2QzxqvfdP1tG8VvD9Wou/rLGw9SDavRoB2pwoG/lDIfLr+I5k14vn4gs6GbiTbGxrba0sGWxlEbEnkmP9nKoTlhWfrkMTAuNbGQXbQORogF/KzOtCezo1+82PVaYPGpzr8aBXDw92yVVWs1NzqS/hcUowmHF7scKeu5eoQH4ocyqSGVp30R8UV2AEPQ+HbbdktWCsuoE9K9riZ1BhZg2QrUT13MOZcW4mhYA7/kNgfiM2+cVcOj+Elb8Dbh40GgsUEfjaGEuEXOvUdylRHkhJ0u1JQyD0zeWD+OpnYGXoQ3+fb4l6jZChU/O76Xb4t7/E22W/OsdLZYJZd4t/LpgyMCSbPsP2XggKARcWi94tpbR3QZZcbeDqeNiFqjBuzos4AbLXG7w24aTjT5SO4xx6HfAbTF6mnzi9hkbhqEpbzb7jbFR5jZeQXL7QH3nm/DfFdN9etlgxXdrbtVFP5UP99lAjWqclHZ8UNpsX5aRkak5aGDXN8CJQjbIO+UDVgRpTqRfFBYWMopEbsSzImDDoY8/xx4LRLQdFU5D6xROXv2Pa/nKhZWixST3Jfl2DvlikjtLHOaMWszyZ0TmymOW0e9AOhz88s1z0q8J2rKQKHx9AbR+ZmHts6HOlvdqrQv8aNKVgA9GzilxxH43POI0yOkwqwVSmbHb4VGp7PlfWXl1yPvSLaCiTv3zhVi5ygIg+TWiaGD6bGgxGXrthcFG120BpyT/r/mM5st6SolZm35OSp+H8jiH5zH2b23CAdxc982L5g/n5wyFwbofZsqUscm9OQof86zA1RuEF6uCunxI2lFcm4dcl+PUr02v8arRhmpvDypaBNmGfxSnNyqKc4ExNvLWRa60+oB5Z6m761ZvxsrQ4rXaaiOqUD3iXu3F9lC+fBfK+ZZifAeUJlqC8qT+RMrIvwIfT69DehVEvZ33opVI/n1bBExQOv9gmgp6scz0E3jEEGIIY3chZl00UqzaM1SM+tO+LME6t6r0Vgi8WeaKEDDdGhIk0XbUhpjL8Q7ManoqSkdTbwmKRYz41KhHSibej5ZBUI37clO6jsPJ0ttYo77p6DMffsLMAdc/3+wVLKVUQzm7cc5vivlbiq8ff6kINdOt1mggliEN5+4nVfLPS3fTcrsmbuUiy14aL/jkh2Nbb1Pj788HvrkpVI7Hcp4thD7KNgY6BT+pr/5oHkzfnnmRIyRDs8pTEWb1/eSDYZRikrMVBavkjPEj5X+GIp2BR8yySs9u8biXFZICVEkcb07VP0MroURflN6y/PBujzBvdp8yzkTYMzhdPsmo3x3fYdgQZqnUAuXjQLfIzDxpmFJ7YLp1/HvnHxE6k4mng2n8bubYrRqJJ//WfWFGe0P6yZNfYc2eOgvG/qst513Sr5KotIR68bqjxxZ+N0D9WmqCGC4WlLDE71eRyoV1OjQ/Gpg5j3w/vad9oebcvETLRCISFUbor1uTURYjqwn5HJWk++GPtYmXAgvV1eHJaVqvzi+S0D5uM4rFj5V3NMUvjE4P5P9QikztszowkyHcgf8/s+lvPvEfcrSRrWAXGtMdF6jYDzooQ8Bo10ni2KI6oVczppv8Dh47blNUdoJXWM3R7njdMU+QQpQbitg98f2SAhOnpTzeknCKyT7YbT/6Ve5ZlC3C0VpwqyB8nhJkVjjuhLLPM4T20fxS5NVE0li0qqbo3uAPR2i4mRx+Fd5EUb0+xes6Q0R7fjrexZaz6/K7JE8K0K3ws/69tsr5iTl/YNvaZfuh95MIhkN98SUdcC03aICQt4UNS9X173W8K4g0qD14FcLEGQyia7F/qoJdieTlsWLoGWZve+Fl8z16C4yl7xyswG/m8gyCBk6+eqA7sXj1b7autNTv/+r24L7BveFEHAEj8K7I9HxQd4BQUWh3GVs6lH0FLCrZpvM62rnXcbR3h/3X32sP2YA2jLzt75p4pCfnisPyBCXBm5cDQvHMTtGHmplAfW77Nwfknflzu1LtpLr8SV8FL8GBEmwKA+bUC+InthLExABR9tBIAHLImBGndqYl/vSAy1Ac60fgvAd5mpoIBoCCy5f5tnv5f01/BvyoLdxvOXI/wyNdrlVPfAUDPw6ONX9IqTW7S7AnzxxWGt03b4cdBy4Mt/h6/uwwlKVDvc3a85TifcIT/DATtCw2gf3Xsu/8BUEsDBBQAAgAIAJS4LUm86NwPSQAAAGoAAAAbAAAAdW5pdmVyc2FsL3VuaXZlcnNhbC5wbmcueG1ss7GvyM1RKEstKs7Mz7NVMtQzULK34+WyKShKLctMLVeoAIoZ6RlAgJJCJSq3PDOlJMNWydzMACGWkZqZnlFiq2RqjhDUBxoJAFBLAQIAABQAAgAIAOgQ40gVDq0oZAQAAAcRAAAdAAAAAAAAAAEAAAAAAAAAAAB1bml2ZXJzYWwvY29tbW9uX21lc3NhZ2VzLmxuZ1BLAQIAABQAAgAIAOgQ40h4SgYcKAMAAIYMAAAnAAAAAAAAAAEAAAAAAJ8EAAB1bml2ZXJzYWwvZmxhc2hfcHVibGlzaGluZ19zZXR0aW5ncy54bWxQSwECAAAUAAIACADoEONIKSIeQbUCAABTCgAAIQAAAAAAAAABAAAAAAAMCAAAdW5pdmVyc2FsL2ZsYXNoX3NraW5fc2V0dGluZ3MueG1sUEsBAgAAFAACAAgA6BDjSJNBNSb9AgAAlwsAACYAAAAAAAAAAQAAAAAAAAsAAHVuaXZlcnNhbC9odG1sX3B1Ymxpc2hpbmdfc2V0dGluZ3MueG1sUEsBAgAAFAACAAgA6BDjSCrIREKUAQAAHQYAAB8AAAAAAAAAAQAAAAAAQQ4AAHVuaXZlcnNhbC9odG1sX3NraW5fc2V0dGluZ3MuanNQSwECAAAUAAIACACTuC1JPTwv0cEAAADlAQAAGgAAAAAAAAABAAAAAAASEAAAdW5pdmVyc2FsL2kxOG5fcHJlc2V0cy54bWxQSwECAAAUAAIACACTuC1JsO1dV24AAAB2AAAAHAAAAAAAAAABAAAAAAALEQAAdW5pdmVyc2FsL2xvY2FsX3NldHRpbmdzLnhtbFBLAQIAABQAAgAIAESUV0cjtE77+wIAALAIAAAUAAAAAAAAAAEAAAAAALMRAAB1bml2ZXJzYWwvcGxheWVyLnhtbFBLAQIAABQAAgAIAJO4LUkXqeFBbwEAAPsCAAApAAAAAAAAAAEAAAAAAOAUAAB1bml2ZXJzYWwvc2tpbl9jdXN0b21pemF0aW9uX3NldHRpbmdzLnhtbFBLAQIAABQAAgAIAJS4LUkcmmtjxw4AAJAbAAAXAAAAAAAAAAAAAAAAAJYWAAB1bml2ZXJzYWwvdW5pdmVyc2FsLnBuZ1BLAQIAABQAAgAIAJS4LUm86NwPSQAAAGoAAAAbAAAAAAAAAAEAAAAAAJIlAAB1bml2ZXJzYWwvdW5pdmVyc2FsLnBuZy54bWxQSwUGAAAAAAsACwBJAwAAFCYAAAAA"/>
  <p:tag name="ISPRING_PRESENTATION_TITLE" val="极简主义简约蓝色线条工作总结PPT模板"/>
  <p:tag name="ISPRING_SCORM_ENDPOINT" val="&lt;endpoint&gt;&lt;enable&gt;0&lt;/enable&gt;&lt;lrs&gt;http://&lt;/lrs&gt;&lt;auth&gt;0&lt;/auth&gt;&lt;login&gt;&lt;/login&gt;&lt;password&gt;&lt;/password&gt;&lt;key&gt;&lt;/key&gt;&lt;name&gt;&lt;/name&gt;&lt;email&gt;&lt;/email&gt;&lt;/endpoint&gt;&#10;"/>
  <p:tag name="commondata" val="eyJoZGlkIjoiOTA3MTMzNTg5OTY0NzdlOWQzMzc1ZWY4MGVlODgyMjIifQ=="/>
</p:tagLst>
</file>

<file path=ppt/theme/theme1.xml><?xml version="1.0" encoding="utf-8"?>
<a:theme xmlns:a="http://schemas.openxmlformats.org/drawingml/2006/main" name="Office 主题">
  <a:themeElements>
    <a:clrScheme name="PPT 单色">
      <a:dk1>
        <a:srgbClr val="000000"/>
      </a:dk1>
      <a:lt1>
        <a:srgbClr val="FFFFFF"/>
      </a:lt1>
      <a:dk2>
        <a:srgbClr val="000000"/>
      </a:dk2>
      <a:lt2>
        <a:srgbClr val="FFFFFF"/>
      </a:lt2>
      <a:accent1>
        <a:srgbClr val="005696"/>
      </a:accent1>
      <a:accent2>
        <a:srgbClr val="3F3F3F"/>
      </a:accent2>
      <a:accent3>
        <a:srgbClr val="7F7F7F"/>
      </a:accent3>
      <a:accent4>
        <a:srgbClr val="A5A5A5"/>
      </a:accent4>
      <a:accent5>
        <a:srgbClr val="BFBFBF"/>
      </a:accent5>
      <a:accent6>
        <a:srgbClr val="D8D8D8"/>
      </a:accent6>
      <a:hlink>
        <a:srgbClr val="7F7F7F"/>
      </a:hlink>
      <a:folHlink>
        <a:srgbClr val="7F7F7F"/>
      </a:folHlink>
    </a:clrScheme>
    <a:fontScheme name="思源黑体">
      <a:majorFont>
        <a:latin typeface="Century Gothic"/>
        <a:ea typeface="思源黑体 CN Medium"/>
        <a:cs typeface=""/>
      </a:majorFont>
      <a:minorFont>
        <a:latin typeface="Century Gothic"/>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Words>
  <Application>WPS 表格</Application>
  <PresentationFormat>自定义</PresentationFormat>
  <Paragraphs>145</Paragraphs>
  <Slides>14</Slides>
  <Notes>28</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14</vt:i4>
      </vt:variant>
    </vt:vector>
  </HeadingPairs>
  <TitlesOfParts>
    <vt:vector size="33" baseType="lpstr">
      <vt:lpstr>Arial</vt:lpstr>
      <vt:lpstr>宋体</vt:lpstr>
      <vt:lpstr>Wingdings</vt:lpstr>
      <vt:lpstr>Century Gothic</vt:lpstr>
      <vt:lpstr>思源黑体 CN Normal</vt:lpstr>
      <vt:lpstr>苹方-简</vt:lpstr>
      <vt:lpstr>汉仪中黑KW</vt:lpstr>
      <vt:lpstr>微软雅黑</vt:lpstr>
      <vt:lpstr>汉仪旗黑</vt:lpstr>
      <vt:lpstr>宋体</vt:lpstr>
      <vt:lpstr>Arial Unicode MS</vt:lpstr>
      <vt:lpstr>Calibri</vt:lpstr>
      <vt:lpstr>Helvetica Neue</vt:lpstr>
      <vt:lpstr>汉仪书宋二KW</vt:lpstr>
      <vt:lpstr>Microsoft Sans Serif</vt:lpstr>
      <vt:lpstr>굴림</vt:lpstr>
      <vt:lpstr>思源黑体 CN Normal</vt:lpstr>
      <vt:lpstr>Apple SD Gothic Neo</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极简主义简约蓝色线条工作总结PPT模板</dc:title>
  <dc:creator>.</dc:creator>
  <dc:subject>MiGOUppt.taobao.com</dc:subject>
  <cp:lastModifiedBy>liushili</cp:lastModifiedBy>
  <cp:revision>142</cp:revision>
  <dcterms:created xsi:type="dcterms:W3CDTF">2025-04-25T07:28:01Z</dcterms:created>
  <dcterms:modified xsi:type="dcterms:W3CDTF">2025-04-25T07:28:01Z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DB6EB656C0CE1F2A81390B6865DE4438_43</vt:lpwstr>
  </property>
  <property fmtid="{D5CDD505-2E9C-101B-9397-08002B2CF9AE}" pid="3" name="KSOProductBuildVer">
    <vt:lpwstr>2052-7.3.1.8967</vt:lpwstr>
  </property>
</Properties>
</file>